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58" r:id="rId5"/>
    <p:sldId id="260" r:id="rId6"/>
    <p:sldId id="287" r:id="rId7"/>
    <p:sldId id="259" r:id="rId8"/>
    <p:sldId id="261" r:id="rId9"/>
    <p:sldId id="262" r:id="rId10"/>
    <p:sldId id="264" r:id="rId11"/>
    <p:sldId id="263" r:id="rId12"/>
    <p:sldId id="265" r:id="rId13"/>
    <p:sldId id="266" r:id="rId14"/>
    <p:sldId id="269" r:id="rId15"/>
    <p:sldId id="267" r:id="rId16"/>
    <p:sldId id="288" r:id="rId17"/>
    <p:sldId id="291" r:id="rId18"/>
    <p:sldId id="292" r:id="rId19"/>
    <p:sldId id="271" r:id="rId20"/>
    <p:sldId id="268" r:id="rId21"/>
    <p:sldId id="289" r:id="rId22"/>
    <p:sldId id="290" r:id="rId23"/>
    <p:sldId id="274" r:id="rId24"/>
    <p:sldId id="293" r:id="rId25"/>
    <p:sldId id="294" r:id="rId26"/>
    <p:sldId id="284" r:id="rId27"/>
    <p:sldId id="285" r:id="rId28"/>
    <p:sldId id="276" r:id="rId29"/>
    <p:sldId id="277" r:id="rId30"/>
    <p:sldId id="278" r:id="rId31"/>
    <p:sldId id="279" r:id="rId32"/>
    <p:sldId id="280" r:id="rId33"/>
    <p:sldId id="281" r:id="rId34"/>
    <p:sldId id="282" r:id="rId35"/>
    <p:sldId id="283" r:id="rId36"/>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7C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1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58F4B-1251-4519-A0D0-1D5C0996E8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EF52412-6D08-4F37-B4B4-7134F2EC19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AA4BF72-898A-4A4B-8C48-79C4C507EE28}"/>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5" name="Footer Placeholder 4">
            <a:extLst>
              <a:ext uri="{FF2B5EF4-FFF2-40B4-BE49-F238E27FC236}">
                <a16:creationId xmlns:a16="http://schemas.microsoft.com/office/drawing/2014/main" id="{455F15CE-A934-456F-BAD7-CB4F63EC52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826BD5-13A3-4921-99D0-A59D496D9AB1}"/>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500518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0C959-9480-4594-83AC-8A257282CAB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5F74625-B950-460D-A46F-EA11A44142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90F029-AD17-4440-A310-D3D4E515F224}"/>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5" name="Footer Placeholder 4">
            <a:extLst>
              <a:ext uri="{FF2B5EF4-FFF2-40B4-BE49-F238E27FC236}">
                <a16:creationId xmlns:a16="http://schemas.microsoft.com/office/drawing/2014/main" id="{9EAC4EAF-AE9F-428A-9288-2F3D04AC22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7A337B-18B5-453A-B43E-D9CB7B090970}"/>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3408440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DA61B-583C-4480-AEED-B4EA50B6EC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6035D03-91AF-4963-80A0-7BD80DF4D9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D45639-A3B1-4AF5-B063-94A2CC27600E}"/>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5" name="Footer Placeholder 4">
            <a:extLst>
              <a:ext uri="{FF2B5EF4-FFF2-40B4-BE49-F238E27FC236}">
                <a16:creationId xmlns:a16="http://schemas.microsoft.com/office/drawing/2014/main" id="{BB30A7C5-1A94-4BCD-8A0E-6CAAD9D20D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B028DD-4CFC-4239-A2E2-A5007AAB39AB}"/>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850165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424B2-A2BF-4A72-A610-070ED14444B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69C3F09-2665-4E50-8B8C-EE6740B42C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EFD0ECB-D504-4326-807B-57A92BB9C2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8438B7B-0872-4CB3-8537-D64D05E4D768}"/>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6" name="Footer Placeholder 5">
            <a:extLst>
              <a:ext uri="{FF2B5EF4-FFF2-40B4-BE49-F238E27FC236}">
                <a16:creationId xmlns:a16="http://schemas.microsoft.com/office/drawing/2014/main" id="{EAF5A155-705E-4E4F-AF93-4E5D35F3998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A388087-B08A-454D-8C9F-207D948A47A9}"/>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18033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C0A09-4E3D-4889-BA73-53AD6721C9B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905E1CB-AA4B-4BB3-8E41-89C08E2424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1E8600-EAC5-4FA5-8FB7-E5A7B4F4B5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1DA15E9-ACAD-4FA9-8ACF-E2979F7EE8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5C0448-FD15-45AD-B669-B828311791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3CF963D-4210-42FF-90E6-DC016FB5ACD6}"/>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8" name="Footer Placeholder 7">
            <a:extLst>
              <a:ext uri="{FF2B5EF4-FFF2-40B4-BE49-F238E27FC236}">
                <a16:creationId xmlns:a16="http://schemas.microsoft.com/office/drawing/2014/main" id="{C18726AE-909E-4CB6-8C4E-07680FDC4A8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93A2BFF-8D30-48CD-A913-679AD4BB6A33}"/>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3693459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E0C9-76F8-4544-BC13-FBCC94DCFD7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4CE89AD-C2E7-42D7-93C2-DFDC20BBDA03}"/>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4" name="Footer Placeholder 3">
            <a:extLst>
              <a:ext uri="{FF2B5EF4-FFF2-40B4-BE49-F238E27FC236}">
                <a16:creationId xmlns:a16="http://schemas.microsoft.com/office/drawing/2014/main" id="{E0E6B278-BBE6-402E-9032-ECA5FE438EC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A370F5B-AAE4-4B71-9050-61273F9C412E}"/>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1202189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53D3FB-1585-49C1-BEC5-B4FBC256FA44}"/>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3" name="Footer Placeholder 2">
            <a:extLst>
              <a:ext uri="{FF2B5EF4-FFF2-40B4-BE49-F238E27FC236}">
                <a16:creationId xmlns:a16="http://schemas.microsoft.com/office/drawing/2014/main" id="{ECC3563F-EC07-4029-884C-9525DB5EC91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5A1ACE8-4972-4D58-A6EC-90F6C47C0F27}"/>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2179841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66E51-DC7C-4DC8-8323-B616C3D360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1398CC2-896E-41A6-80C9-BE8793D5F5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9FDAE47-2E5D-451F-A8AB-25F433A5DE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AC004F-168B-4841-A943-C16A482D9962}"/>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6" name="Footer Placeholder 5">
            <a:extLst>
              <a:ext uri="{FF2B5EF4-FFF2-40B4-BE49-F238E27FC236}">
                <a16:creationId xmlns:a16="http://schemas.microsoft.com/office/drawing/2014/main" id="{804E218B-AA01-4EF1-B060-4DF97038A67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0A7D251-B53C-40AA-8140-1A07C67F9F31}"/>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214314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9F49-F6CB-4B91-B399-6FB577987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813D06A-B690-4343-8397-D776A35B45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B599C1E-2732-4DD6-8922-B2F31EB90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29C61C-CCF5-4AC7-95E0-A0966312054D}"/>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6" name="Footer Placeholder 5">
            <a:extLst>
              <a:ext uri="{FF2B5EF4-FFF2-40B4-BE49-F238E27FC236}">
                <a16:creationId xmlns:a16="http://schemas.microsoft.com/office/drawing/2014/main" id="{5CFB17E5-436A-4133-A031-67D1C8E181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A8087DC-4986-4391-9702-555E2E2D79EF}"/>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3635662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3729F-75B1-43D7-BAD2-4DEDFE7646B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023F10-88B1-44E3-A1EE-82E0644A0B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867C0BF-962F-493A-8469-582994FC465D}"/>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5" name="Footer Placeholder 4">
            <a:extLst>
              <a:ext uri="{FF2B5EF4-FFF2-40B4-BE49-F238E27FC236}">
                <a16:creationId xmlns:a16="http://schemas.microsoft.com/office/drawing/2014/main" id="{E6FED426-78E7-4699-BDC0-694BEEAC686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F4412E-7DA6-4E29-9791-7030BAC3C7A7}"/>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1029747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7BEF57-6260-430A-AD65-355E6C27FB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A399AD2-9AE2-4F6A-AF45-1EA2AF92DA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A29161-A5A6-4E4A-AC14-C598F4A40E30}"/>
              </a:ext>
            </a:extLst>
          </p:cNvPr>
          <p:cNvSpPr>
            <a:spLocks noGrp="1"/>
          </p:cNvSpPr>
          <p:nvPr>
            <p:ph type="dt" sz="half" idx="10"/>
          </p:nvPr>
        </p:nvSpPr>
        <p:spPr/>
        <p:txBody>
          <a:bodyPr/>
          <a:lstStyle/>
          <a:p>
            <a:fld id="{7FC5C237-0504-466F-B099-22651140569E}" type="datetimeFigureOut">
              <a:rPr lang="en-GB" smtClean="0"/>
              <a:t>06/08/2024</a:t>
            </a:fld>
            <a:endParaRPr lang="en-GB"/>
          </a:p>
        </p:txBody>
      </p:sp>
      <p:sp>
        <p:nvSpPr>
          <p:cNvPr id="5" name="Footer Placeholder 4">
            <a:extLst>
              <a:ext uri="{FF2B5EF4-FFF2-40B4-BE49-F238E27FC236}">
                <a16:creationId xmlns:a16="http://schemas.microsoft.com/office/drawing/2014/main" id="{B97708B9-3AE6-4F9F-9D58-1AA41231E5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105DC9-32D7-4C6C-BB6D-76EC42DF4936}"/>
              </a:ext>
            </a:extLst>
          </p:cNvPr>
          <p:cNvSpPr>
            <a:spLocks noGrp="1"/>
          </p:cNvSpPr>
          <p:nvPr>
            <p:ph type="sldNum" sz="quarter" idx="12"/>
          </p:nvPr>
        </p:nvSpPr>
        <p:spPr/>
        <p:txBody>
          <a:bodyPr/>
          <a:lstStyle/>
          <a:p>
            <a:fld id="{8AA7B3E4-D6CD-4F84-9166-E8F8DC040D0E}" type="slidenum">
              <a:rPr lang="en-GB" smtClean="0"/>
              <a:t>‹#›</a:t>
            </a:fld>
            <a:endParaRPr lang="en-GB"/>
          </a:p>
        </p:txBody>
      </p:sp>
    </p:spTree>
    <p:extLst>
      <p:ext uri="{BB962C8B-B14F-4D97-AF65-F5344CB8AC3E}">
        <p14:creationId xmlns:p14="http://schemas.microsoft.com/office/powerpoint/2010/main" val="3422346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EEE97D-A0A2-457A-B440-5557BE5A32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FD42144-CE1B-4900-B219-AE838B01C6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4A691D-CF7B-47C2-9F25-2FD90B87DD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C5C237-0504-466F-B099-22651140569E}" type="datetimeFigureOut">
              <a:rPr lang="en-GB" smtClean="0"/>
              <a:t>06/08/2024</a:t>
            </a:fld>
            <a:endParaRPr lang="en-GB"/>
          </a:p>
        </p:txBody>
      </p:sp>
      <p:sp>
        <p:nvSpPr>
          <p:cNvPr id="5" name="Footer Placeholder 4">
            <a:extLst>
              <a:ext uri="{FF2B5EF4-FFF2-40B4-BE49-F238E27FC236}">
                <a16:creationId xmlns:a16="http://schemas.microsoft.com/office/drawing/2014/main" id="{0661126C-3BAE-47E7-9BFD-A6B8ADBC63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2BDCE47-E783-46FE-8D2F-CDF925E829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7B3E4-D6CD-4F84-9166-E8F8DC040D0E}" type="slidenum">
              <a:rPr lang="en-GB" smtClean="0"/>
              <a:t>‹#›</a:t>
            </a:fld>
            <a:endParaRPr lang="en-GB"/>
          </a:p>
        </p:txBody>
      </p:sp>
    </p:spTree>
    <p:extLst>
      <p:ext uri="{BB962C8B-B14F-4D97-AF65-F5344CB8AC3E}">
        <p14:creationId xmlns:p14="http://schemas.microsoft.com/office/powerpoint/2010/main" val="6595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he.wikipedia.org/wiki/%D7%98%D7%95%D7%95%D7%99%D7%98%D7%A8" TargetMode="External"/><Relationship Id="rId13" Type="http://schemas.openxmlformats.org/officeDocument/2006/relationships/image" Target="../media/image12.png"/><Relationship Id="rId3" Type="http://schemas.openxmlformats.org/officeDocument/2006/relationships/hyperlink" Target="http://www.facebook.com/CultureLiverpool" TargetMode="External"/><Relationship Id="rId7" Type="http://schemas.openxmlformats.org/officeDocument/2006/relationships/image" Target="../media/image9.png"/><Relationship Id="rId12" Type="http://schemas.openxmlformats.org/officeDocument/2006/relationships/hyperlink" Target="https://commons.wikimedia.org/wiki/File:LinkedIn_logo_initials.png" TargetMode="External"/><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hyperlink" Target="https://www.linkedin.com/in/culture-liverpool-199491a9/" TargetMode="External"/><Relationship Id="rId11" Type="http://schemas.openxmlformats.org/officeDocument/2006/relationships/image" Target="../media/image11.png"/><Relationship Id="rId5" Type="http://schemas.openxmlformats.org/officeDocument/2006/relationships/hyperlink" Target="https://www.instagram.com/culture_liverpool/" TargetMode="External"/><Relationship Id="rId10" Type="http://schemas.openxmlformats.org/officeDocument/2006/relationships/hyperlink" Target="https://proofmart.com/product/instagram-white-logo-png-icon-clipart-free-download/" TargetMode="External"/><Relationship Id="rId4" Type="http://schemas.openxmlformats.org/officeDocument/2006/relationships/hyperlink" Target="https://twitter.com/CultureLPool" TargetMode="External"/><Relationship Id="rId9" Type="http://schemas.openxmlformats.org/officeDocument/2006/relationships/image" Target="../media/image10.png"/><Relationship Id="rId14" Type="http://schemas.openxmlformats.org/officeDocument/2006/relationships/hyperlink" Target="https://www.freepngimg.com/png/65307-logo-computer-facebook-icon-icons-free-clipart-hd"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0C149-2B76-4AEB-8BD0-A4081807201C}"/>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4569E4D6-79A8-482E-9818-927E8597036E}"/>
              </a:ext>
            </a:extLst>
          </p:cNvPr>
          <p:cNvSpPr>
            <a:spLocks noGrp="1"/>
          </p:cNvSpPr>
          <p:nvPr>
            <p:ph type="subTitle" idx="1"/>
          </p:nvPr>
        </p:nvSpPr>
        <p:spPr/>
        <p:txBody>
          <a:bodyPr/>
          <a:lstStyle/>
          <a:p>
            <a:endParaRPr lang="en-GB"/>
          </a:p>
        </p:txBody>
      </p:sp>
      <p:pic>
        <p:nvPicPr>
          <p:cNvPr id="5" name="Picture 4" descr="Graphical user interface, text, application, email&#10;&#10;Description automatically generated">
            <a:extLst>
              <a:ext uri="{FF2B5EF4-FFF2-40B4-BE49-F238E27FC236}">
                <a16:creationId xmlns:a16="http://schemas.microsoft.com/office/drawing/2014/main" id="{AAB4F3E6-3CA4-42CD-B990-B451364703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320"/>
            <a:ext cx="12192000" cy="6858000"/>
          </a:xfrm>
          <a:prstGeom prst="rect">
            <a:avLst/>
          </a:prstGeom>
        </p:spPr>
      </p:pic>
    </p:spTree>
    <p:extLst>
      <p:ext uri="{BB962C8B-B14F-4D97-AF65-F5344CB8AC3E}">
        <p14:creationId xmlns:p14="http://schemas.microsoft.com/office/powerpoint/2010/main" val="143553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C7A2C9F-102C-D21A-73A1-0C862AEB8659}"/>
              </a:ext>
            </a:extLst>
          </p:cNvPr>
          <p:cNvPicPr>
            <a:picLocks noChangeAspect="1"/>
          </p:cNvPicPr>
          <p:nvPr/>
        </p:nvPicPr>
        <p:blipFill>
          <a:blip r:embed="rId2"/>
          <a:stretch>
            <a:fillRect/>
          </a:stretch>
        </p:blipFill>
        <p:spPr>
          <a:xfrm>
            <a:off x="983582" y="1975053"/>
            <a:ext cx="9970234" cy="4283507"/>
          </a:xfrm>
          <a:prstGeom prst="rect">
            <a:avLst/>
          </a:prstGeom>
        </p:spPr>
      </p:pic>
      <p:sp>
        <p:nvSpPr>
          <p:cNvPr id="13" name="Title 1">
            <a:extLst>
              <a:ext uri="{FF2B5EF4-FFF2-40B4-BE49-F238E27FC236}">
                <a16:creationId xmlns:a16="http://schemas.microsoft.com/office/drawing/2014/main" id="{2772BAEF-9C46-5135-C9CA-4554D85ECE33}"/>
              </a:ext>
            </a:extLst>
          </p:cNvPr>
          <p:cNvSpPr txBox="1">
            <a:spLocks/>
          </p:cNvSpPr>
          <p:nvPr/>
        </p:nvSpPr>
        <p:spPr>
          <a:xfrm>
            <a:off x="838200" y="73088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87CB8"/>
                </a:solidFill>
                <a:latin typeface="Arial" panose="020B0604020202020204" pitchFamily="34" charset="0"/>
                <a:cs typeface="Arial" panose="020B0604020202020204" pitchFamily="34" charset="0"/>
              </a:rPr>
              <a:t>Culture Liverpool home page</a:t>
            </a:r>
          </a:p>
        </p:txBody>
      </p:sp>
    </p:spTree>
    <p:extLst>
      <p:ext uri="{BB962C8B-B14F-4D97-AF65-F5344CB8AC3E}">
        <p14:creationId xmlns:p14="http://schemas.microsoft.com/office/powerpoint/2010/main" val="3980364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9BB7B069-5E54-4EA0-994D-E69548D62B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E0E4F166-E585-4EBF-B0AC-510F03A95309}"/>
              </a:ext>
            </a:extLst>
          </p:cNvPr>
          <p:cNvSpPr>
            <a:spLocks noGrp="1"/>
          </p:cNvSpPr>
          <p:nvPr>
            <p:ph type="title"/>
          </p:nvPr>
        </p:nvSpPr>
        <p:spPr>
          <a:xfrm>
            <a:off x="838200" y="700405"/>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Website guidance 2023</a:t>
            </a:r>
          </a:p>
        </p:txBody>
      </p:sp>
      <p:sp>
        <p:nvSpPr>
          <p:cNvPr id="3" name="Content Placeholder 2">
            <a:extLst>
              <a:ext uri="{FF2B5EF4-FFF2-40B4-BE49-F238E27FC236}">
                <a16:creationId xmlns:a16="http://schemas.microsoft.com/office/drawing/2014/main" id="{E87E4E77-A863-4F8F-AD92-0905C83B43DC}"/>
              </a:ext>
            </a:extLst>
          </p:cNvPr>
          <p:cNvSpPr>
            <a:spLocks noGrp="1"/>
          </p:cNvSpPr>
          <p:nvPr>
            <p:ph idx="1"/>
          </p:nvPr>
        </p:nvSpPr>
        <p:spPr>
          <a:xfrm>
            <a:off x="838200" y="1788160"/>
            <a:ext cx="10515600" cy="4511040"/>
          </a:xfrm>
        </p:spPr>
        <p:txBody>
          <a:bodyPr>
            <a:normAutofit fontScale="92500" lnSpcReduction="20000"/>
          </a:bodyPr>
          <a:lstStyle/>
          <a:p>
            <a:pPr algn="l" fontAlgn="base">
              <a:lnSpc>
                <a:spcPct val="120000"/>
              </a:lnSpc>
            </a:pPr>
            <a:r>
              <a:rPr lang="en-US" sz="3000" b="0" i="0" dirty="0">
                <a:solidFill>
                  <a:srgbClr val="000000"/>
                </a:solidFill>
                <a:effectLst/>
                <a:latin typeface="acumin-pro"/>
              </a:rPr>
              <a:t>The Culture Liverpool website has recently had a ‘refresh’.</a:t>
            </a:r>
          </a:p>
          <a:p>
            <a:pPr fontAlgn="base">
              <a:lnSpc>
                <a:spcPct val="120000"/>
              </a:lnSpc>
            </a:pPr>
            <a:r>
              <a:rPr lang="en-US" sz="3000" dirty="0">
                <a:solidFill>
                  <a:srgbClr val="000000"/>
                </a:solidFill>
                <a:latin typeface="acumin-pro"/>
              </a:rPr>
              <a:t>It </a:t>
            </a:r>
            <a:r>
              <a:rPr lang="en-US" sz="3000" b="0" i="0" dirty="0">
                <a:solidFill>
                  <a:srgbClr val="000000"/>
                </a:solidFill>
                <a:effectLst/>
                <a:latin typeface="acumin-pro"/>
              </a:rPr>
              <a:t>provides the latest information on the current cultural scene in Liverpool.</a:t>
            </a:r>
          </a:p>
          <a:p>
            <a:pPr fontAlgn="base">
              <a:lnSpc>
                <a:spcPct val="120000"/>
              </a:lnSpc>
            </a:pPr>
            <a:r>
              <a:rPr lang="en-US" sz="3000" dirty="0">
                <a:solidFill>
                  <a:srgbClr val="000000"/>
                </a:solidFill>
                <a:latin typeface="acumin-pro"/>
              </a:rPr>
              <a:t>It demonstrates how </a:t>
            </a:r>
            <a:r>
              <a:rPr lang="en-US" sz="3000" b="0" i="0" dirty="0">
                <a:solidFill>
                  <a:srgbClr val="000000"/>
                </a:solidFill>
                <a:effectLst/>
                <a:latin typeface="acumin-pro"/>
              </a:rPr>
              <a:t>we keep abreast of trends with industry news.</a:t>
            </a:r>
          </a:p>
          <a:p>
            <a:pPr fontAlgn="base">
              <a:lnSpc>
                <a:spcPct val="120000"/>
              </a:lnSpc>
            </a:pPr>
            <a:r>
              <a:rPr lang="en-US" sz="3000" dirty="0">
                <a:solidFill>
                  <a:srgbClr val="000000"/>
                </a:solidFill>
                <a:latin typeface="acumin-pro"/>
              </a:rPr>
              <a:t>It has a resource of </a:t>
            </a:r>
            <a:r>
              <a:rPr lang="en-US" sz="3000" b="0" i="0" dirty="0">
                <a:solidFill>
                  <a:srgbClr val="000000"/>
                </a:solidFill>
                <a:effectLst/>
                <a:latin typeface="acumin-pro"/>
              </a:rPr>
              <a:t>archive material to illustrate how far we have come.</a:t>
            </a:r>
          </a:p>
          <a:p>
            <a:pPr algn="l" fontAlgn="base">
              <a:lnSpc>
                <a:spcPct val="120000"/>
              </a:lnSpc>
            </a:pPr>
            <a:r>
              <a:rPr lang="en-US" sz="3000" b="0" i="0" dirty="0">
                <a:solidFill>
                  <a:srgbClr val="000000"/>
                </a:solidFill>
                <a:effectLst/>
                <a:latin typeface="acumin-pro"/>
              </a:rPr>
              <a:t>It highlights our solidarity with forward thinking, innovative and cutting-edge cultural partners who join us on our journey to realize the full potential of Liverpool - to be UK’s most exciting city.</a:t>
            </a:r>
          </a:p>
          <a:p>
            <a:endParaRPr lang="en-GB" dirty="0"/>
          </a:p>
        </p:txBody>
      </p:sp>
    </p:spTree>
    <p:extLst>
      <p:ext uri="{BB962C8B-B14F-4D97-AF65-F5344CB8AC3E}">
        <p14:creationId xmlns:p14="http://schemas.microsoft.com/office/powerpoint/2010/main" val="1138851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9BB7B069-5E54-4EA0-994D-E69548D62B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E0E4F166-E585-4EBF-B0AC-510F03A95309}"/>
              </a:ext>
            </a:extLst>
          </p:cNvPr>
          <p:cNvSpPr>
            <a:spLocks noGrp="1"/>
          </p:cNvSpPr>
          <p:nvPr>
            <p:ph type="title"/>
          </p:nvPr>
        </p:nvSpPr>
        <p:spPr>
          <a:xfrm>
            <a:off x="838200" y="873125"/>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Marketing support guidance 2023</a:t>
            </a:r>
          </a:p>
        </p:txBody>
      </p:sp>
      <p:sp>
        <p:nvSpPr>
          <p:cNvPr id="3" name="Content Placeholder 2">
            <a:extLst>
              <a:ext uri="{FF2B5EF4-FFF2-40B4-BE49-F238E27FC236}">
                <a16:creationId xmlns:a16="http://schemas.microsoft.com/office/drawing/2014/main" id="{E87E4E77-A863-4F8F-AD92-0905C83B43DC}"/>
              </a:ext>
            </a:extLst>
          </p:cNvPr>
          <p:cNvSpPr>
            <a:spLocks noGrp="1"/>
          </p:cNvSpPr>
          <p:nvPr>
            <p:ph idx="1"/>
          </p:nvPr>
        </p:nvSpPr>
        <p:spPr>
          <a:xfrm>
            <a:off x="838200" y="2194560"/>
            <a:ext cx="10515600" cy="4124959"/>
          </a:xfrm>
        </p:spPr>
        <p:txBody>
          <a:bodyPr>
            <a:normAutofit fontScale="92500" lnSpcReduction="10000"/>
          </a:bodyPr>
          <a:lstStyle/>
          <a:p>
            <a:pPr marL="0" indent="0">
              <a:lnSpc>
                <a:spcPct val="100000"/>
              </a:lnSpc>
              <a:buNone/>
            </a:pPr>
            <a:r>
              <a:rPr lang="en-GB" sz="2800" dirty="0"/>
              <a:t>The purpose of this document is to draw attention to the new layout and style of the Culture Liverpool website and how partners can be included in:</a:t>
            </a:r>
          </a:p>
          <a:p>
            <a:pPr marL="0" indent="0">
              <a:lnSpc>
                <a:spcPct val="100000"/>
              </a:lnSpc>
              <a:buNone/>
            </a:pPr>
            <a:endParaRPr lang="en-GB" sz="500" dirty="0"/>
          </a:p>
          <a:p>
            <a:pPr marL="285750" indent="-285750">
              <a:lnSpc>
                <a:spcPct val="100000"/>
              </a:lnSpc>
              <a:buFont typeface="Arial" panose="020B0604020202020204" pitchFamily="34" charset="0"/>
              <a:buChar char="•"/>
            </a:pPr>
            <a:r>
              <a:rPr lang="en-GB" sz="2800" dirty="0"/>
              <a:t>What’s On Event Listings</a:t>
            </a:r>
          </a:p>
          <a:p>
            <a:pPr marL="285750" indent="-285750">
              <a:lnSpc>
                <a:spcPct val="100000"/>
              </a:lnSpc>
              <a:buFont typeface="Arial" panose="020B0604020202020204" pitchFamily="34" charset="0"/>
              <a:buChar char="•"/>
            </a:pPr>
            <a:r>
              <a:rPr lang="en-GB" sz="2800" dirty="0"/>
              <a:t>Social Media</a:t>
            </a:r>
          </a:p>
          <a:p>
            <a:pPr marL="285750" indent="-285750">
              <a:lnSpc>
                <a:spcPct val="100000"/>
              </a:lnSpc>
              <a:buFont typeface="Arial" panose="020B0604020202020204" pitchFamily="34" charset="0"/>
              <a:buChar char="•"/>
            </a:pPr>
            <a:r>
              <a:rPr lang="en-GB" sz="2800" dirty="0"/>
              <a:t>Press Releases</a:t>
            </a:r>
          </a:p>
          <a:p>
            <a:pPr marL="285750" indent="-285750">
              <a:lnSpc>
                <a:spcPct val="100000"/>
              </a:lnSpc>
              <a:buFont typeface="Arial" panose="020B0604020202020204" pitchFamily="34" charset="0"/>
              <a:buChar char="•"/>
            </a:pPr>
            <a:r>
              <a:rPr lang="en-GB" sz="2800" dirty="0"/>
              <a:t>Opportunities</a:t>
            </a:r>
          </a:p>
          <a:p>
            <a:pPr marL="285750" indent="-285750">
              <a:lnSpc>
                <a:spcPct val="100000"/>
              </a:lnSpc>
              <a:buFont typeface="Arial" panose="020B0604020202020204" pitchFamily="34" charset="0"/>
              <a:buChar char="•"/>
            </a:pPr>
            <a:r>
              <a:rPr lang="en-GB" sz="2800" dirty="0"/>
              <a:t>Blogs</a:t>
            </a:r>
          </a:p>
          <a:p>
            <a:pPr marL="285750" indent="-285750">
              <a:lnSpc>
                <a:spcPct val="100000"/>
              </a:lnSpc>
              <a:buFont typeface="Arial" panose="020B0604020202020204" pitchFamily="34" charset="0"/>
              <a:buChar char="•"/>
            </a:pPr>
            <a:r>
              <a:rPr lang="en-GB" dirty="0" err="1"/>
              <a:t>Enewsletter</a:t>
            </a:r>
            <a:endParaRPr lang="en-GB" sz="2800" dirty="0"/>
          </a:p>
          <a:p>
            <a:endParaRPr lang="en-GB" dirty="0"/>
          </a:p>
        </p:txBody>
      </p:sp>
    </p:spTree>
    <p:extLst>
      <p:ext uri="{BB962C8B-B14F-4D97-AF65-F5344CB8AC3E}">
        <p14:creationId xmlns:p14="http://schemas.microsoft.com/office/powerpoint/2010/main" val="3686862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29DD0F0-C40C-57AC-FBB6-E0FCC9FE7F87}"/>
              </a:ext>
            </a:extLst>
          </p:cNvPr>
          <p:cNvPicPr>
            <a:picLocks noChangeAspect="1"/>
          </p:cNvPicPr>
          <p:nvPr/>
        </p:nvPicPr>
        <p:blipFill>
          <a:blip r:embed="rId2"/>
          <a:stretch>
            <a:fillRect/>
          </a:stretch>
        </p:blipFill>
        <p:spPr>
          <a:xfrm>
            <a:off x="645160" y="1673436"/>
            <a:ext cx="10982960" cy="5048288"/>
          </a:xfrm>
          <a:prstGeom prst="rect">
            <a:avLst/>
          </a:prstGeom>
        </p:spPr>
      </p:pic>
      <p:sp>
        <p:nvSpPr>
          <p:cNvPr id="9" name="Title 1">
            <a:extLst>
              <a:ext uri="{FF2B5EF4-FFF2-40B4-BE49-F238E27FC236}">
                <a16:creationId xmlns:a16="http://schemas.microsoft.com/office/drawing/2014/main" id="{F59ABE72-A143-D643-A809-3793FC8875EB}"/>
              </a:ext>
            </a:extLst>
          </p:cNvPr>
          <p:cNvSpPr>
            <a:spLocks noGrp="1"/>
          </p:cNvSpPr>
          <p:nvPr>
            <p:ph type="title"/>
          </p:nvPr>
        </p:nvSpPr>
        <p:spPr>
          <a:xfrm>
            <a:off x="645160" y="385445"/>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Example of What’s On page</a:t>
            </a:r>
          </a:p>
        </p:txBody>
      </p:sp>
    </p:spTree>
    <p:extLst>
      <p:ext uri="{BB962C8B-B14F-4D97-AF65-F5344CB8AC3E}">
        <p14:creationId xmlns:p14="http://schemas.microsoft.com/office/powerpoint/2010/main" val="328908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59ABE72-A143-D643-A809-3793FC8875EB}"/>
              </a:ext>
            </a:extLst>
          </p:cNvPr>
          <p:cNvSpPr>
            <a:spLocks noGrp="1"/>
          </p:cNvSpPr>
          <p:nvPr>
            <p:ph type="title"/>
          </p:nvPr>
        </p:nvSpPr>
        <p:spPr>
          <a:xfrm>
            <a:off x="645160" y="385445"/>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Example of What’s On page</a:t>
            </a:r>
          </a:p>
        </p:txBody>
      </p:sp>
      <p:pic>
        <p:nvPicPr>
          <p:cNvPr id="2" name="Picture 1">
            <a:extLst>
              <a:ext uri="{FF2B5EF4-FFF2-40B4-BE49-F238E27FC236}">
                <a16:creationId xmlns:a16="http://schemas.microsoft.com/office/drawing/2014/main" id="{74FD3F93-F706-F677-1119-0E67001781F1}"/>
              </a:ext>
            </a:extLst>
          </p:cNvPr>
          <p:cNvPicPr>
            <a:picLocks noChangeAspect="1"/>
          </p:cNvPicPr>
          <p:nvPr/>
        </p:nvPicPr>
        <p:blipFill>
          <a:blip r:embed="rId2"/>
          <a:stretch>
            <a:fillRect/>
          </a:stretch>
        </p:blipFill>
        <p:spPr>
          <a:xfrm>
            <a:off x="705091" y="1645920"/>
            <a:ext cx="11111324" cy="4657300"/>
          </a:xfrm>
          <a:prstGeom prst="rect">
            <a:avLst/>
          </a:prstGeom>
        </p:spPr>
      </p:pic>
    </p:spTree>
    <p:extLst>
      <p:ext uri="{BB962C8B-B14F-4D97-AF65-F5344CB8AC3E}">
        <p14:creationId xmlns:p14="http://schemas.microsoft.com/office/powerpoint/2010/main" val="3209547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9BB7B069-5E54-4EA0-994D-E69548D62B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E0E4F166-E585-4EBF-B0AC-510F03A95309}"/>
              </a:ext>
            </a:extLst>
          </p:cNvPr>
          <p:cNvSpPr>
            <a:spLocks noGrp="1"/>
          </p:cNvSpPr>
          <p:nvPr>
            <p:ph type="title"/>
          </p:nvPr>
        </p:nvSpPr>
        <p:spPr>
          <a:xfrm>
            <a:off x="838200" y="1066165"/>
            <a:ext cx="1098804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Submit An Event to What’s On page</a:t>
            </a:r>
          </a:p>
        </p:txBody>
      </p:sp>
      <p:sp>
        <p:nvSpPr>
          <p:cNvPr id="3" name="Content Placeholder 2">
            <a:extLst>
              <a:ext uri="{FF2B5EF4-FFF2-40B4-BE49-F238E27FC236}">
                <a16:creationId xmlns:a16="http://schemas.microsoft.com/office/drawing/2014/main" id="{E87E4E77-A863-4F8F-AD92-0905C83B43DC}"/>
              </a:ext>
            </a:extLst>
          </p:cNvPr>
          <p:cNvSpPr>
            <a:spLocks noGrp="1"/>
          </p:cNvSpPr>
          <p:nvPr>
            <p:ph idx="1"/>
          </p:nvPr>
        </p:nvSpPr>
        <p:spPr>
          <a:xfrm>
            <a:off x="838200" y="2557145"/>
            <a:ext cx="10515600" cy="2776855"/>
          </a:xfrm>
        </p:spPr>
        <p:txBody>
          <a:bodyPr/>
          <a:lstStyle/>
          <a:p>
            <a:r>
              <a:rPr lang="en-GB" dirty="0"/>
              <a:t>Keep us informed!</a:t>
            </a:r>
          </a:p>
          <a:p>
            <a:r>
              <a:rPr lang="en-GB" dirty="0"/>
              <a:t>Submit event information to our ‘WHAT’S ON’ page by completing the ‘SUBMIT AN EVENT’ online form.</a:t>
            </a:r>
          </a:p>
          <a:p>
            <a:endParaRPr lang="en-GB" sz="1200" dirty="0"/>
          </a:p>
          <a:p>
            <a:pPr marL="457200" lvl="1" indent="0">
              <a:buNone/>
            </a:pPr>
            <a:r>
              <a:rPr lang="en-GB" sz="2800" b="1" dirty="0"/>
              <a:t>https://www.cultureliverpool.co.uk/submit-an-event/</a:t>
            </a:r>
          </a:p>
        </p:txBody>
      </p:sp>
    </p:spTree>
    <p:extLst>
      <p:ext uri="{BB962C8B-B14F-4D97-AF65-F5344CB8AC3E}">
        <p14:creationId xmlns:p14="http://schemas.microsoft.com/office/powerpoint/2010/main" val="2652701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71CC1F-33D7-4758-945C-3C850823EE07}"/>
              </a:ext>
            </a:extLst>
          </p:cNvPr>
          <p:cNvPicPr>
            <a:picLocks noChangeAspect="1"/>
          </p:cNvPicPr>
          <p:nvPr/>
        </p:nvPicPr>
        <p:blipFill>
          <a:blip r:embed="rId2"/>
          <a:stretch>
            <a:fillRect/>
          </a:stretch>
        </p:blipFill>
        <p:spPr>
          <a:xfrm>
            <a:off x="771401" y="1757679"/>
            <a:ext cx="10941484" cy="4603537"/>
          </a:xfrm>
          <a:prstGeom prst="rect">
            <a:avLst/>
          </a:prstGeom>
        </p:spPr>
      </p:pic>
      <p:sp>
        <p:nvSpPr>
          <p:cNvPr id="2" name="Title 1">
            <a:extLst>
              <a:ext uri="{FF2B5EF4-FFF2-40B4-BE49-F238E27FC236}">
                <a16:creationId xmlns:a16="http://schemas.microsoft.com/office/drawing/2014/main" id="{3001379F-BA3C-0EA4-2AB9-21AD7545ABD8}"/>
              </a:ext>
            </a:extLst>
          </p:cNvPr>
          <p:cNvSpPr>
            <a:spLocks noGrp="1"/>
          </p:cNvSpPr>
          <p:nvPr>
            <p:ph type="title"/>
          </p:nvPr>
        </p:nvSpPr>
        <p:spPr>
          <a:xfrm>
            <a:off x="645160" y="385445"/>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Example of Submit An Event page</a:t>
            </a:r>
          </a:p>
        </p:txBody>
      </p:sp>
    </p:spTree>
    <p:extLst>
      <p:ext uri="{BB962C8B-B14F-4D97-AF65-F5344CB8AC3E}">
        <p14:creationId xmlns:p14="http://schemas.microsoft.com/office/powerpoint/2010/main" val="2567510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9BB7B069-5E54-4EA0-994D-E69548D62B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E0E4F166-E585-4EBF-B0AC-510F03A95309}"/>
              </a:ext>
            </a:extLst>
          </p:cNvPr>
          <p:cNvSpPr>
            <a:spLocks noGrp="1"/>
          </p:cNvSpPr>
          <p:nvPr>
            <p:ph type="title"/>
          </p:nvPr>
        </p:nvSpPr>
        <p:spPr>
          <a:xfrm>
            <a:off x="838200" y="937829"/>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Guidance for submissions</a:t>
            </a:r>
          </a:p>
        </p:txBody>
      </p:sp>
      <p:sp>
        <p:nvSpPr>
          <p:cNvPr id="3" name="Content Placeholder 2">
            <a:extLst>
              <a:ext uri="{FF2B5EF4-FFF2-40B4-BE49-F238E27FC236}">
                <a16:creationId xmlns:a16="http://schemas.microsoft.com/office/drawing/2014/main" id="{E87E4E77-A863-4F8F-AD92-0905C83B43DC}"/>
              </a:ext>
            </a:extLst>
          </p:cNvPr>
          <p:cNvSpPr>
            <a:spLocks noGrp="1"/>
          </p:cNvSpPr>
          <p:nvPr>
            <p:ph idx="1"/>
          </p:nvPr>
        </p:nvSpPr>
        <p:spPr>
          <a:xfrm>
            <a:off x="838200" y="2290313"/>
            <a:ext cx="10515600" cy="3661310"/>
          </a:xfrm>
        </p:spPr>
        <p:txBody>
          <a:bodyPr>
            <a:normAutofit/>
          </a:bodyPr>
          <a:lstStyle/>
          <a:p>
            <a:r>
              <a:rPr lang="en-GB" dirty="0"/>
              <a:t>SUBMIT the form ensuring ALL fields have been completed.</a:t>
            </a:r>
          </a:p>
          <a:p>
            <a:r>
              <a:rPr lang="en-GB" dirty="0"/>
              <a:t>Text should be succinct and engaging.</a:t>
            </a:r>
          </a:p>
          <a:p>
            <a:r>
              <a:rPr lang="en-GB" dirty="0"/>
              <a:t>ENSURE your text provides relevant information about your event.</a:t>
            </a:r>
          </a:p>
          <a:p>
            <a:r>
              <a:rPr lang="en-GB" dirty="0"/>
              <a:t>ALL event listings require an image: 1170px (w) x 604px (h).</a:t>
            </a:r>
          </a:p>
          <a:p>
            <a:r>
              <a:rPr lang="en-GB" dirty="0"/>
              <a:t>Images should be of a GOOD quality and have no copyright issues.</a:t>
            </a:r>
          </a:p>
          <a:p>
            <a:r>
              <a:rPr lang="en-GB" dirty="0"/>
              <a:t>The act of submitting an event DOES NOT guarantee its publishing.</a:t>
            </a:r>
          </a:p>
          <a:p>
            <a:r>
              <a:rPr lang="en-GB" dirty="0"/>
              <a:t>Allow 5 WORKING DAYS for your event to be listed if approved.</a:t>
            </a:r>
          </a:p>
          <a:p>
            <a:endParaRPr lang="en-GB" sz="1200" dirty="0"/>
          </a:p>
        </p:txBody>
      </p:sp>
    </p:spTree>
    <p:extLst>
      <p:ext uri="{BB962C8B-B14F-4D97-AF65-F5344CB8AC3E}">
        <p14:creationId xmlns:p14="http://schemas.microsoft.com/office/powerpoint/2010/main" val="1999040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DE26238-9857-FE4A-AADB-59F11DEB3F3F}"/>
              </a:ext>
            </a:extLst>
          </p:cNvPr>
          <p:cNvSpPr>
            <a:spLocks noGrp="1"/>
          </p:cNvSpPr>
          <p:nvPr>
            <p:ph type="title"/>
          </p:nvPr>
        </p:nvSpPr>
        <p:spPr>
          <a:xfrm>
            <a:off x="645160" y="243205"/>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Culture Liverpool’s twitter page</a:t>
            </a:r>
          </a:p>
        </p:txBody>
      </p:sp>
      <p:pic>
        <p:nvPicPr>
          <p:cNvPr id="7" name="Picture 6">
            <a:extLst>
              <a:ext uri="{FF2B5EF4-FFF2-40B4-BE49-F238E27FC236}">
                <a16:creationId xmlns:a16="http://schemas.microsoft.com/office/drawing/2014/main" id="{38D5FEE5-5DA0-20B6-8F59-AE40A0B84860}"/>
              </a:ext>
            </a:extLst>
          </p:cNvPr>
          <p:cNvPicPr>
            <a:picLocks noChangeAspect="1"/>
          </p:cNvPicPr>
          <p:nvPr/>
        </p:nvPicPr>
        <p:blipFill>
          <a:blip r:embed="rId2"/>
          <a:stretch>
            <a:fillRect/>
          </a:stretch>
        </p:blipFill>
        <p:spPr>
          <a:xfrm>
            <a:off x="645160" y="1568768"/>
            <a:ext cx="7358697" cy="4690749"/>
          </a:xfrm>
          <a:prstGeom prst="rect">
            <a:avLst/>
          </a:prstGeom>
        </p:spPr>
      </p:pic>
      <p:pic>
        <p:nvPicPr>
          <p:cNvPr id="9" name="Picture 8">
            <a:extLst>
              <a:ext uri="{FF2B5EF4-FFF2-40B4-BE49-F238E27FC236}">
                <a16:creationId xmlns:a16="http://schemas.microsoft.com/office/drawing/2014/main" id="{E714C897-3226-E35B-E6CE-8192F1F54487}"/>
              </a:ext>
            </a:extLst>
          </p:cNvPr>
          <p:cNvPicPr>
            <a:picLocks noChangeAspect="1"/>
          </p:cNvPicPr>
          <p:nvPr/>
        </p:nvPicPr>
        <p:blipFill>
          <a:blip r:embed="rId3"/>
          <a:stretch>
            <a:fillRect/>
          </a:stretch>
        </p:blipFill>
        <p:spPr>
          <a:xfrm>
            <a:off x="8003857" y="3091820"/>
            <a:ext cx="3610660" cy="3167697"/>
          </a:xfrm>
          <a:prstGeom prst="rect">
            <a:avLst/>
          </a:prstGeom>
        </p:spPr>
      </p:pic>
    </p:spTree>
    <p:extLst>
      <p:ext uri="{BB962C8B-B14F-4D97-AF65-F5344CB8AC3E}">
        <p14:creationId xmlns:p14="http://schemas.microsoft.com/office/powerpoint/2010/main" val="366901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9BB7B069-5E54-4EA0-994D-E69548D62B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E0E4F166-E585-4EBF-B0AC-510F03A95309}"/>
              </a:ext>
            </a:extLst>
          </p:cNvPr>
          <p:cNvSpPr>
            <a:spLocks noGrp="1"/>
          </p:cNvSpPr>
          <p:nvPr>
            <p:ph type="title"/>
          </p:nvPr>
        </p:nvSpPr>
        <p:spPr>
          <a:xfrm>
            <a:off x="838200" y="937829"/>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Social Support</a:t>
            </a:r>
          </a:p>
        </p:txBody>
      </p:sp>
      <p:sp>
        <p:nvSpPr>
          <p:cNvPr id="3" name="Content Placeholder 2">
            <a:extLst>
              <a:ext uri="{FF2B5EF4-FFF2-40B4-BE49-F238E27FC236}">
                <a16:creationId xmlns:a16="http://schemas.microsoft.com/office/drawing/2014/main" id="{E87E4E77-A863-4F8F-AD92-0905C83B43DC}"/>
              </a:ext>
            </a:extLst>
          </p:cNvPr>
          <p:cNvSpPr>
            <a:spLocks noGrp="1"/>
          </p:cNvSpPr>
          <p:nvPr>
            <p:ph idx="1"/>
          </p:nvPr>
        </p:nvSpPr>
        <p:spPr>
          <a:xfrm>
            <a:off x="838200" y="2148072"/>
            <a:ext cx="10515600" cy="4140967"/>
          </a:xfrm>
        </p:spPr>
        <p:txBody>
          <a:bodyPr>
            <a:normAutofit/>
          </a:bodyPr>
          <a:lstStyle/>
          <a:p>
            <a:pPr marL="0" indent="0">
              <a:buNone/>
            </a:pPr>
            <a:r>
              <a:rPr lang="en-GB" dirty="0"/>
              <a:t>Culture Liverpool is currently active across the following platforms:</a:t>
            </a:r>
          </a:p>
          <a:p>
            <a:pPr marL="0" indent="0">
              <a:buNone/>
            </a:pPr>
            <a:endParaRPr lang="en-GB" dirty="0"/>
          </a:p>
          <a:p>
            <a:pPr marL="0" indent="0">
              <a:buNone/>
            </a:pPr>
            <a:r>
              <a:rPr lang="en-GB" dirty="0"/>
              <a:t>       </a:t>
            </a:r>
            <a:r>
              <a:rPr lang="en-GB" dirty="0">
                <a:hlinkClick r:id="rId3"/>
              </a:rPr>
              <a:t>facebook.com/CultureLiverpool</a:t>
            </a:r>
            <a:endParaRPr lang="en-GB" dirty="0"/>
          </a:p>
          <a:p>
            <a:pPr marL="0" indent="0">
              <a:buNone/>
            </a:pPr>
            <a:endParaRPr lang="en-GB" sz="1000" dirty="0"/>
          </a:p>
          <a:p>
            <a:pPr marL="0" indent="0">
              <a:buNone/>
            </a:pPr>
            <a:r>
              <a:rPr lang="en-GB" dirty="0"/>
              <a:t>       </a:t>
            </a:r>
            <a:r>
              <a:rPr lang="en-GB" dirty="0">
                <a:hlinkClick r:id="rId4"/>
              </a:rPr>
              <a:t>twitter.com/CultureLPool</a:t>
            </a:r>
            <a:endParaRPr lang="en-GB" dirty="0"/>
          </a:p>
          <a:p>
            <a:pPr marL="0" indent="0">
              <a:buNone/>
            </a:pPr>
            <a:endParaRPr lang="en-GB" sz="1000" dirty="0"/>
          </a:p>
          <a:p>
            <a:pPr marL="0" indent="0">
              <a:buNone/>
            </a:pPr>
            <a:r>
              <a:rPr lang="en-GB" dirty="0"/>
              <a:t>       </a:t>
            </a:r>
            <a:r>
              <a:rPr lang="en-GB" dirty="0">
                <a:hlinkClick r:id="rId5"/>
              </a:rPr>
              <a:t>instagram.com/culture_liverpool/</a:t>
            </a:r>
            <a:endParaRPr lang="en-GB" dirty="0"/>
          </a:p>
          <a:p>
            <a:pPr marL="0" indent="0">
              <a:buNone/>
            </a:pPr>
            <a:endParaRPr lang="en-GB" sz="1000" dirty="0"/>
          </a:p>
          <a:p>
            <a:pPr marL="0" indent="0">
              <a:buNone/>
            </a:pPr>
            <a:r>
              <a:rPr lang="en-GB" dirty="0"/>
              <a:t>       </a:t>
            </a:r>
            <a:r>
              <a:rPr lang="en-GB" dirty="0">
                <a:hlinkClick r:id="rId6"/>
              </a:rPr>
              <a:t>linkedin.com/in/culture-liverpool-199491a9/</a:t>
            </a:r>
            <a:endParaRPr lang="en-GB" dirty="0"/>
          </a:p>
          <a:p>
            <a:endParaRPr lang="en-GB" dirty="0"/>
          </a:p>
          <a:p>
            <a:endParaRPr lang="en-GB" sz="1200" dirty="0"/>
          </a:p>
        </p:txBody>
      </p:sp>
      <p:pic>
        <p:nvPicPr>
          <p:cNvPr id="6" name="Picture 5" descr="A picture containing ax, vector graphics, tool&#10;&#10;Description automatically generated">
            <a:extLst>
              <a:ext uri="{FF2B5EF4-FFF2-40B4-BE49-F238E27FC236}">
                <a16:creationId xmlns:a16="http://schemas.microsoft.com/office/drawing/2014/main" id="{2CB0DDF2-40E0-4155-9362-D92F0BF0B22F}"/>
              </a:ext>
            </a:extLst>
          </p:cNvPr>
          <p:cNvPicPr>
            <a:picLocks noChangeAspect="1"/>
          </p:cNvPicPr>
          <p:nvPr/>
        </p:nvPicPr>
        <p:blipFill>
          <a:blip r:embed="rId7">
            <a:biLevel thresh="75000"/>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807053" y="3917739"/>
            <a:ext cx="442623" cy="360000"/>
          </a:xfrm>
          <a:prstGeom prst="rect">
            <a:avLst/>
          </a:prstGeom>
        </p:spPr>
      </p:pic>
      <p:pic>
        <p:nvPicPr>
          <p:cNvPr id="12" name="Picture 11" descr="Icon&#10;&#10;Description automatically generated">
            <a:extLst>
              <a:ext uri="{FF2B5EF4-FFF2-40B4-BE49-F238E27FC236}">
                <a16:creationId xmlns:a16="http://schemas.microsoft.com/office/drawing/2014/main" id="{1BEEC73D-BC72-45E5-9BD9-24BB48FF77BA}"/>
              </a:ext>
            </a:extLst>
          </p:cNvPr>
          <p:cNvPicPr>
            <a:picLocks noChangeAspect="1"/>
          </p:cNvPicPr>
          <p:nvPr/>
        </p:nvPicPr>
        <p:blipFill>
          <a:blip r:embed="rId9">
            <a:biLevel thresh="75000"/>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668364" y="4543316"/>
            <a:ext cx="720000" cy="720000"/>
          </a:xfrm>
          <a:prstGeom prst="rect">
            <a:avLst/>
          </a:prstGeom>
        </p:spPr>
      </p:pic>
      <p:pic>
        <p:nvPicPr>
          <p:cNvPr id="15" name="Picture 14" descr="Logo&#10;&#10;Description automatically generated">
            <a:extLst>
              <a:ext uri="{FF2B5EF4-FFF2-40B4-BE49-F238E27FC236}">
                <a16:creationId xmlns:a16="http://schemas.microsoft.com/office/drawing/2014/main" id="{17FC9080-A3EF-4C4C-9E1A-8D8D5F89042E}"/>
              </a:ext>
            </a:extLst>
          </p:cNvPr>
          <p:cNvPicPr>
            <a:picLocks noChangeAspect="1"/>
          </p:cNvPicPr>
          <p:nvPr/>
        </p:nvPicPr>
        <p:blipFill>
          <a:blip r:embed="rId11">
            <a:biLevel thresh="50000"/>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859746" y="5528894"/>
            <a:ext cx="360000" cy="360000"/>
          </a:xfrm>
          <a:prstGeom prst="rect">
            <a:avLst/>
          </a:prstGeom>
        </p:spPr>
      </p:pic>
      <p:pic>
        <p:nvPicPr>
          <p:cNvPr id="18" name="Picture 17" descr="Shape&#10;&#10;Description automatically generated with low confidence">
            <a:extLst>
              <a:ext uri="{FF2B5EF4-FFF2-40B4-BE49-F238E27FC236}">
                <a16:creationId xmlns:a16="http://schemas.microsoft.com/office/drawing/2014/main" id="{1B838FB7-6CB3-4D32-B272-6084C7542408}"/>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777240" y="3112162"/>
            <a:ext cx="540000" cy="540000"/>
          </a:xfrm>
          <a:prstGeom prst="rect">
            <a:avLst/>
          </a:prstGeom>
        </p:spPr>
      </p:pic>
    </p:spTree>
    <p:extLst>
      <p:ext uri="{BB962C8B-B14F-4D97-AF65-F5344CB8AC3E}">
        <p14:creationId xmlns:p14="http://schemas.microsoft.com/office/powerpoint/2010/main" val="2035864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9BB7B069-5E54-4EA0-994D-E69548D62B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E0E4F166-E585-4EBF-B0AC-510F03A95309}"/>
              </a:ext>
            </a:extLst>
          </p:cNvPr>
          <p:cNvSpPr>
            <a:spLocks noGrp="1"/>
          </p:cNvSpPr>
          <p:nvPr>
            <p:ph type="title"/>
          </p:nvPr>
        </p:nvSpPr>
        <p:spPr>
          <a:xfrm>
            <a:off x="838200" y="511109"/>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Guidance for inclusion on socials</a:t>
            </a:r>
          </a:p>
        </p:txBody>
      </p:sp>
      <p:sp>
        <p:nvSpPr>
          <p:cNvPr id="3" name="Content Placeholder 2">
            <a:extLst>
              <a:ext uri="{FF2B5EF4-FFF2-40B4-BE49-F238E27FC236}">
                <a16:creationId xmlns:a16="http://schemas.microsoft.com/office/drawing/2014/main" id="{E87E4E77-A863-4F8F-AD92-0905C83B43DC}"/>
              </a:ext>
            </a:extLst>
          </p:cNvPr>
          <p:cNvSpPr>
            <a:spLocks noGrp="1"/>
          </p:cNvSpPr>
          <p:nvPr>
            <p:ph idx="1"/>
          </p:nvPr>
        </p:nvSpPr>
        <p:spPr>
          <a:xfrm>
            <a:off x="838200" y="1528313"/>
            <a:ext cx="10515600" cy="3661310"/>
          </a:xfrm>
        </p:spPr>
        <p:txBody>
          <a:bodyPr>
            <a:noAutofit/>
          </a:bodyPr>
          <a:lstStyle/>
          <a:p>
            <a:pPr>
              <a:lnSpc>
                <a:spcPct val="100000"/>
              </a:lnSpc>
            </a:pPr>
            <a:r>
              <a:rPr lang="en-GB" dirty="0"/>
              <a:t>Event listings on the Culture Liverpool ‘WHAT’S ON’ page are supported by social media promotion - the best way to receive social support is by submitting an event.</a:t>
            </a:r>
          </a:p>
          <a:p>
            <a:pPr>
              <a:lnSpc>
                <a:spcPct val="100000"/>
              </a:lnSpc>
            </a:pPr>
            <a:r>
              <a:rPr lang="en-GB" dirty="0"/>
              <a:t>Include social </a:t>
            </a:r>
            <a:r>
              <a:rPr lang="en-GB" dirty="0" err="1"/>
              <a:t>urls</a:t>
            </a:r>
            <a:r>
              <a:rPr lang="en-GB" dirty="0"/>
              <a:t> on your event listing so we can tag you in on our posts to help amplify messaging.</a:t>
            </a:r>
          </a:p>
          <a:p>
            <a:pPr>
              <a:lnSpc>
                <a:spcPct val="100000"/>
              </a:lnSpc>
            </a:pPr>
            <a:r>
              <a:rPr lang="en-GB" dirty="0"/>
              <a:t>There is no ‘set time’ for details of your event listing to appear on Culture Liverpool’s socials.</a:t>
            </a:r>
          </a:p>
          <a:p>
            <a:pPr>
              <a:lnSpc>
                <a:spcPct val="100000"/>
              </a:lnSpc>
            </a:pPr>
            <a:r>
              <a:rPr lang="en-GB" dirty="0"/>
              <a:t>Event listings form part of Culture Liverpool’s wider social media plan.</a:t>
            </a:r>
          </a:p>
          <a:p>
            <a:pPr>
              <a:lnSpc>
                <a:spcPct val="100000"/>
              </a:lnSpc>
            </a:pPr>
            <a:r>
              <a:rPr lang="en-GB" dirty="0"/>
              <a:t>We will endeavour to ‘push’ messaging about your event in the weeks leading up to its actual date. </a:t>
            </a:r>
          </a:p>
        </p:txBody>
      </p:sp>
    </p:spTree>
    <p:extLst>
      <p:ext uri="{BB962C8B-B14F-4D97-AF65-F5344CB8AC3E}">
        <p14:creationId xmlns:p14="http://schemas.microsoft.com/office/powerpoint/2010/main" val="2738378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BFF15-0306-455B-8EB9-5C29B912568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31F8835-2BAB-48FE-9956-EF180CDE46CD}"/>
              </a:ext>
            </a:extLst>
          </p:cNvPr>
          <p:cNvSpPr>
            <a:spLocks noGrp="1"/>
          </p:cNvSpPr>
          <p:nvPr>
            <p:ph idx="1"/>
          </p:nvPr>
        </p:nvSpPr>
        <p:spPr/>
        <p:txBody>
          <a:bodyPr/>
          <a:lstStyle/>
          <a:p>
            <a:endParaRPr lang="en-GB"/>
          </a:p>
        </p:txBody>
      </p:sp>
      <p:pic>
        <p:nvPicPr>
          <p:cNvPr id="5" name="Content Placeholder 4" descr="Graphical user interface, application&#10;&#10;Description automatically generated">
            <a:extLst>
              <a:ext uri="{FF2B5EF4-FFF2-40B4-BE49-F238E27FC236}">
                <a16:creationId xmlns:a16="http://schemas.microsoft.com/office/drawing/2014/main" id="{4C9A3567-234F-4F65-B80D-D6D13BBCD2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6" name="Title 1">
            <a:extLst>
              <a:ext uri="{FF2B5EF4-FFF2-40B4-BE49-F238E27FC236}">
                <a16:creationId xmlns:a16="http://schemas.microsoft.com/office/drawing/2014/main" id="{25382509-7F45-4573-B71D-AC74576DDFFC}"/>
              </a:ext>
            </a:extLst>
          </p:cNvPr>
          <p:cNvSpPr txBox="1">
            <a:spLocks/>
          </p:cNvSpPr>
          <p:nvPr/>
        </p:nvSpPr>
        <p:spPr>
          <a:xfrm>
            <a:off x="838200" y="9378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87CB8"/>
                </a:solidFill>
                <a:latin typeface="Arial" panose="020B0604020202020204" pitchFamily="34" charset="0"/>
                <a:cs typeface="Arial" panose="020B0604020202020204" pitchFamily="34" charset="0"/>
              </a:rPr>
              <a:t>Social Support</a:t>
            </a:r>
          </a:p>
        </p:txBody>
      </p:sp>
      <p:sp>
        <p:nvSpPr>
          <p:cNvPr id="7" name="Content Placeholder 2">
            <a:extLst>
              <a:ext uri="{FF2B5EF4-FFF2-40B4-BE49-F238E27FC236}">
                <a16:creationId xmlns:a16="http://schemas.microsoft.com/office/drawing/2014/main" id="{3E446F88-DCCF-4177-84ED-ABB1FB428DC1}"/>
              </a:ext>
            </a:extLst>
          </p:cNvPr>
          <p:cNvSpPr txBox="1">
            <a:spLocks/>
          </p:cNvSpPr>
          <p:nvPr/>
        </p:nvSpPr>
        <p:spPr>
          <a:xfrm>
            <a:off x="838200" y="2148073"/>
            <a:ext cx="106934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The earlier you can provide information about your event the better.</a:t>
            </a:r>
          </a:p>
          <a:p>
            <a:pPr>
              <a:lnSpc>
                <a:spcPct val="100000"/>
              </a:lnSpc>
            </a:pPr>
            <a:r>
              <a:rPr lang="en-GB" dirty="0"/>
              <a:t>We can support messaging on our social channels that sit outside of events.</a:t>
            </a:r>
            <a:r>
              <a:rPr lang="en-GB" dirty="0">
                <a:effectLst/>
                <a:latin typeface="Calibri" panose="020F0502020204030204" pitchFamily="34" charset="0"/>
                <a:ea typeface="Times New Roman" panose="02020603050405020304" pitchFamily="18" charset="0"/>
              </a:rPr>
              <a:t> </a:t>
            </a:r>
          </a:p>
          <a:p>
            <a:pPr>
              <a:lnSpc>
                <a:spcPct val="100000"/>
              </a:lnSpc>
            </a:pPr>
            <a:r>
              <a:rPr lang="en-GB" dirty="0">
                <a:effectLst/>
                <a:latin typeface="Calibri" panose="020F0502020204030204" pitchFamily="34" charset="0"/>
                <a:ea typeface="Times New Roman" panose="02020603050405020304" pitchFamily="18" charset="0"/>
              </a:rPr>
              <a:t>Tag both LCC and Culture Liverpool in to social media posts where appropriate.</a:t>
            </a:r>
            <a:endParaRPr lang="en-GB" dirty="0"/>
          </a:p>
          <a:p>
            <a:pPr>
              <a:lnSpc>
                <a:spcPct val="100000"/>
              </a:lnSpc>
            </a:pPr>
            <a:r>
              <a:rPr lang="en-GB" dirty="0"/>
              <a:t>Requests for support outside of events should be emailed for consideration, with at least 3 working days notice.</a:t>
            </a:r>
          </a:p>
          <a:p>
            <a:pPr>
              <a:lnSpc>
                <a:spcPct val="100000"/>
              </a:lnSpc>
            </a:pPr>
            <a:r>
              <a:rPr lang="en-GB" dirty="0"/>
              <a:t>Email </a:t>
            </a:r>
            <a:r>
              <a:rPr lang="en-GB" b="1" dirty="0"/>
              <a:t>CULTUREMARKETING@LIVERPOOL.GOV.UK </a:t>
            </a:r>
            <a:r>
              <a:rPr lang="en-GB" dirty="0"/>
              <a:t>with such requests.</a:t>
            </a:r>
            <a:endParaRPr lang="en-GB" b="1" dirty="0"/>
          </a:p>
          <a:p>
            <a:endParaRPr lang="en-GB" dirty="0"/>
          </a:p>
        </p:txBody>
      </p:sp>
    </p:spTree>
    <p:extLst>
      <p:ext uri="{BB962C8B-B14F-4D97-AF65-F5344CB8AC3E}">
        <p14:creationId xmlns:p14="http://schemas.microsoft.com/office/powerpoint/2010/main" val="769445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60AA77-D98D-F3C7-0C51-796FFFA69EDD}"/>
              </a:ext>
            </a:extLst>
          </p:cNvPr>
          <p:cNvPicPr>
            <a:picLocks noChangeAspect="1"/>
          </p:cNvPicPr>
          <p:nvPr/>
        </p:nvPicPr>
        <p:blipFill>
          <a:blip r:embed="rId2"/>
          <a:stretch>
            <a:fillRect/>
          </a:stretch>
        </p:blipFill>
        <p:spPr>
          <a:xfrm>
            <a:off x="645160" y="1711009"/>
            <a:ext cx="11020241" cy="4456112"/>
          </a:xfrm>
          <a:prstGeom prst="rect">
            <a:avLst/>
          </a:prstGeom>
        </p:spPr>
      </p:pic>
      <p:sp>
        <p:nvSpPr>
          <p:cNvPr id="5" name="Title 1">
            <a:extLst>
              <a:ext uri="{FF2B5EF4-FFF2-40B4-BE49-F238E27FC236}">
                <a16:creationId xmlns:a16="http://schemas.microsoft.com/office/drawing/2014/main" id="{71DC8945-CBBD-CBF7-4D6F-160B77993DE8}"/>
              </a:ext>
            </a:extLst>
          </p:cNvPr>
          <p:cNvSpPr>
            <a:spLocks noGrp="1"/>
          </p:cNvSpPr>
          <p:nvPr>
            <p:ph type="title"/>
          </p:nvPr>
        </p:nvSpPr>
        <p:spPr>
          <a:xfrm>
            <a:off x="645160" y="385445"/>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Example of News page</a:t>
            </a:r>
          </a:p>
        </p:txBody>
      </p:sp>
    </p:spTree>
    <p:extLst>
      <p:ext uri="{BB962C8B-B14F-4D97-AF65-F5344CB8AC3E}">
        <p14:creationId xmlns:p14="http://schemas.microsoft.com/office/powerpoint/2010/main" val="2074049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5C74A9D5-5B79-45DE-9A7A-172C109FE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Title 1">
            <a:extLst>
              <a:ext uri="{FF2B5EF4-FFF2-40B4-BE49-F238E27FC236}">
                <a16:creationId xmlns:a16="http://schemas.microsoft.com/office/drawing/2014/main" id="{AF00531D-7FBE-483A-8024-4DC5B8D1E978}"/>
              </a:ext>
            </a:extLst>
          </p:cNvPr>
          <p:cNvSpPr txBox="1">
            <a:spLocks/>
          </p:cNvSpPr>
          <p:nvPr/>
        </p:nvSpPr>
        <p:spPr>
          <a:xfrm>
            <a:off x="838200" y="75494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87CB8"/>
                </a:solidFill>
                <a:latin typeface="Arial" panose="020B0604020202020204" pitchFamily="34" charset="0"/>
                <a:cs typeface="Arial" panose="020B0604020202020204" pitchFamily="34" charset="0"/>
              </a:rPr>
              <a:t>Inclusion on the News page</a:t>
            </a:r>
          </a:p>
        </p:txBody>
      </p:sp>
      <p:sp>
        <p:nvSpPr>
          <p:cNvPr id="6" name="Content Placeholder 2">
            <a:extLst>
              <a:ext uri="{FF2B5EF4-FFF2-40B4-BE49-F238E27FC236}">
                <a16:creationId xmlns:a16="http://schemas.microsoft.com/office/drawing/2014/main" id="{B8877091-BE55-46F2-A436-9B4D8689DC8E}"/>
              </a:ext>
            </a:extLst>
          </p:cNvPr>
          <p:cNvSpPr txBox="1">
            <a:spLocks/>
          </p:cNvSpPr>
          <p:nvPr/>
        </p:nvSpPr>
        <p:spPr>
          <a:xfrm>
            <a:off x="838200" y="2107432"/>
            <a:ext cx="10693400" cy="408000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Submit a Press Release.</a:t>
            </a:r>
          </a:p>
          <a:p>
            <a:pPr>
              <a:lnSpc>
                <a:spcPct val="100000"/>
              </a:lnSpc>
            </a:pPr>
            <a:r>
              <a:rPr lang="en-GB" dirty="0"/>
              <a:t>Press Releases should include a GOOD quality image which has no copyright issues. Images: 1170px (w) x 604px (h).</a:t>
            </a:r>
          </a:p>
          <a:p>
            <a:pPr>
              <a:lnSpc>
                <a:spcPct val="100000"/>
              </a:lnSpc>
            </a:pPr>
            <a:r>
              <a:rPr lang="en-GB" dirty="0"/>
              <a:t>The act of submitting a Press Release DOES NOT guarantee its publishing.</a:t>
            </a:r>
          </a:p>
          <a:p>
            <a:pPr>
              <a:lnSpc>
                <a:spcPct val="100000"/>
              </a:lnSpc>
            </a:pPr>
            <a:r>
              <a:rPr lang="en-GB" dirty="0"/>
              <a:t>Please provide Press Releases with at least 48 hours notice where possible.</a:t>
            </a:r>
          </a:p>
          <a:p>
            <a:pPr>
              <a:lnSpc>
                <a:spcPct val="100000"/>
              </a:lnSpc>
            </a:pPr>
            <a:r>
              <a:rPr lang="en-GB" dirty="0"/>
              <a:t>ALL Press Releases should be sent to </a:t>
            </a:r>
            <a:r>
              <a:rPr lang="en-GB" b="1" dirty="0"/>
              <a:t>CULTUREMARKETING@LIVERPOOL.GOV.UK </a:t>
            </a:r>
            <a:r>
              <a:rPr lang="en-GB" dirty="0"/>
              <a:t>for consideration.</a:t>
            </a:r>
          </a:p>
          <a:p>
            <a:endParaRPr lang="en-GB" dirty="0"/>
          </a:p>
          <a:p>
            <a:endParaRPr lang="en-GB" dirty="0"/>
          </a:p>
        </p:txBody>
      </p:sp>
    </p:spTree>
    <p:extLst>
      <p:ext uri="{BB962C8B-B14F-4D97-AF65-F5344CB8AC3E}">
        <p14:creationId xmlns:p14="http://schemas.microsoft.com/office/powerpoint/2010/main" val="3335264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5C74A9D5-5B79-45DE-9A7A-172C109FE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Title 1">
            <a:extLst>
              <a:ext uri="{FF2B5EF4-FFF2-40B4-BE49-F238E27FC236}">
                <a16:creationId xmlns:a16="http://schemas.microsoft.com/office/drawing/2014/main" id="{AF00531D-7FBE-483A-8024-4DC5B8D1E978}"/>
              </a:ext>
            </a:extLst>
          </p:cNvPr>
          <p:cNvSpPr txBox="1">
            <a:spLocks/>
          </p:cNvSpPr>
          <p:nvPr/>
        </p:nvSpPr>
        <p:spPr>
          <a:xfrm>
            <a:off x="838200" y="75494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87CB8"/>
                </a:solidFill>
                <a:latin typeface="Arial" panose="020B0604020202020204" pitchFamily="34" charset="0"/>
                <a:cs typeface="Arial" panose="020B0604020202020204" pitchFamily="34" charset="0"/>
              </a:rPr>
              <a:t>Press Release advice</a:t>
            </a:r>
          </a:p>
        </p:txBody>
      </p:sp>
      <p:sp>
        <p:nvSpPr>
          <p:cNvPr id="6" name="Content Placeholder 2">
            <a:extLst>
              <a:ext uri="{FF2B5EF4-FFF2-40B4-BE49-F238E27FC236}">
                <a16:creationId xmlns:a16="http://schemas.microsoft.com/office/drawing/2014/main" id="{B8877091-BE55-46F2-A436-9B4D8689DC8E}"/>
              </a:ext>
            </a:extLst>
          </p:cNvPr>
          <p:cNvSpPr txBox="1">
            <a:spLocks/>
          </p:cNvSpPr>
          <p:nvPr/>
        </p:nvSpPr>
        <p:spPr>
          <a:xfrm>
            <a:off x="838200" y="1869440"/>
            <a:ext cx="10693400" cy="449072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nSpc>
                <a:spcPct val="110000"/>
              </a:lnSpc>
              <a:buFont typeface="Symbol" panose="05050102010706020507" pitchFamily="18" charset="2"/>
              <a:buChar char=""/>
            </a:pPr>
            <a:r>
              <a:rPr lang="en-GB" dirty="0">
                <a:effectLst/>
                <a:latin typeface="Calibri" panose="020F0502020204030204" pitchFamily="34" charset="0"/>
                <a:ea typeface="Times New Roman" panose="02020603050405020304" pitchFamily="18" charset="0"/>
              </a:rPr>
              <a:t>Make sure Liverpool City Council’s support is referenced in all press releases - even if it’s just in a boiler plate.</a:t>
            </a:r>
            <a:endParaRPr lang="en-GB" dirty="0">
              <a:effectLst/>
              <a:latin typeface="Calibri" panose="020F0502020204030204" pitchFamily="34" charset="0"/>
              <a:ea typeface="Calibri" panose="020F0502020204030204" pitchFamily="34" charset="0"/>
            </a:endParaRPr>
          </a:p>
          <a:p>
            <a:pPr marL="342900" lvl="0" indent="-342900">
              <a:lnSpc>
                <a:spcPct val="110000"/>
              </a:lnSpc>
              <a:buFont typeface="Symbol" panose="05050102010706020507" pitchFamily="18" charset="2"/>
              <a:buChar char=""/>
            </a:pPr>
            <a:r>
              <a:rPr lang="en-GB" dirty="0">
                <a:latin typeface="Calibri" panose="020F0502020204030204" pitchFamily="34" charset="0"/>
                <a:ea typeface="Times New Roman" panose="02020603050405020304" pitchFamily="18" charset="0"/>
              </a:rPr>
              <a:t>Consider whether</a:t>
            </a:r>
            <a:r>
              <a:rPr lang="en-GB" dirty="0">
                <a:effectLst/>
                <a:latin typeface="Calibri" panose="020F0502020204030204" pitchFamily="34" charset="0"/>
                <a:ea typeface="Times New Roman" panose="02020603050405020304" pitchFamily="18" charset="0"/>
              </a:rPr>
              <a:t> your comms would benefit from a council quote.</a:t>
            </a:r>
            <a:endParaRPr lang="en-GB" dirty="0">
              <a:effectLst/>
              <a:latin typeface="Calibri" panose="020F0502020204030204" pitchFamily="34" charset="0"/>
              <a:ea typeface="Calibri" panose="020F0502020204030204" pitchFamily="34" charset="0"/>
            </a:endParaRPr>
          </a:p>
          <a:p>
            <a:pPr marL="342900" lvl="0" indent="-342900">
              <a:lnSpc>
                <a:spcPct val="110000"/>
              </a:lnSpc>
              <a:buFont typeface="Symbol" panose="05050102010706020507" pitchFamily="18" charset="2"/>
              <a:buChar char=""/>
            </a:pPr>
            <a:r>
              <a:rPr lang="en-GB" dirty="0">
                <a:effectLst/>
                <a:latin typeface="Calibri" panose="020F0502020204030204" pitchFamily="34" charset="0"/>
                <a:ea typeface="Times New Roman" panose="02020603050405020304" pitchFamily="18" charset="0"/>
              </a:rPr>
              <a:t>At least 48 hours’ notice is helpful.</a:t>
            </a:r>
            <a:endParaRPr lang="en-GB" dirty="0">
              <a:effectLst/>
              <a:latin typeface="Calibri" panose="020F0502020204030204" pitchFamily="34" charset="0"/>
              <a:ea typeface="Calibri" panose="020F0502020204030204" pitchFamily="34" charset="0"/>
            </a:endParaRPr>
          </a:p>
          <a:p>
            <a:pPr marL="342900" lvl="0" indent="-342900">
              <a:lnSpc>
                <a:spcPct val="110000"/>
              </a:lnSpc>
              <a:buFont typeface="Symbol" panose="05050102010706020507" pitchFamily="18" charset="2"/>
              <a:buChar char=""/>
            </a:pPr>
            <a:r>
              <a:rPr lang="en-GB" dirty="0">
                <a:effectLst/>
                <a:latin typeface="Calibri" panose="020F0502020204030204" pitchFamily="34" charset="0"/>
                <a:ea typeface="Times New Roman" panose="02020603050405020304" pitchFamily="18" charset="0"/>
              </a:rPr>
              <a:t>Tag both LCC and Culture Liverpool in to social media posts where appropriate.</a:t>
            </a:r>
            <a:endParaRPr lang="en-GB" dirty="0">
              <a:effectLst/>
              <a:latin typeface="Calibri" panose="020F0502020204030204" pitchFamily="34" charset="0"/>
              <a:ea typeface="Calibri" panose="020F0502020204030204" pitchFamily="34" charset="0"/>
            </a:endParaRPr>
          </a:p>
          <a:p>
            <a:pPr marL="342900" lvl="0" indent="-342900">
              <a:lnSpc>
                <a:spcPct val="110000"/>
              </a:lnSpc>
              <a:buFont typeface="Symbol" panose="05050102010706020507" pitchFamily="18" charset="2"/>
              <a:buChar char=""/>
            </a:pPr>
            <a:r>
              <a:rPr lang="en-GB" dirty="0">
                <a:effectLst/>
                <a:latin typeface="Calibri" panose="020F0502020204030204" pitchFamily="34" charset="0"/>
                <a:ea typeface="Times New Roman" panose="02020603050405020304" pitchFamily="18" charset="0"/>
              </a:rPr>
              <a:t>Share photos, videos </a:t>
            </a:r>
            <a:r>
              <a:rPr lang="en-GB">
                <a:effectLst/>
                <a:latin typeface="Calibri" panose="020F0502020204030204" pitchFamily="34" charset="0"/>
                <a:ea typeface="Times New Roman" panose="02020603050405020304" pitchFamily="18" charset="0"/>
              </a:rPr>
              <a:t>or blogs.</a:t>
            </a:r>
            <a:endParaRPr lang="en-GB" dirty="0">
              <a:effectLst/>
              <a:latin typeface="Calibri" panose="020F0502020204030204" pitchFamily="34" charset="0"/>
              <a:ea typeface="Calibri" panose="020F0502020204030204" pitchFamily="34" charset="0"/>
            </a:endParaRPr>
          </a:p>
          <a:p>
            <a:pPr marL="342900" lvl="0" indent="-342900">
              <a:lnSpc>
                <a:spcPct val="110000"/>
              </a:lnSpc>
              <a:buFont typeface="Symbol" panose="05050102010706020507" pitchFamily="18" charset="2"/>
              <a:buChar char=""/>
            </a:pPr>
            <a:r>
              <a:rPr lang="en-GB" dirty="0">
                <a:effectLst/>
                <a:latin typeface="Calibri" panose="020F0502020204030204" pitchFamily="34" charset="0"/>
                <a:ea typeface="Times New Roman" panose="02020603050405020304" pitchFamily="18" charset="0"/>
              </a:rPr>
              <a:t>Does your story link to the council’s best value agenda?</a:t>
            </a:r>
            <a:endParaRPr lang="en-GB" dirty="0">
              <a:effectLst/>
              <a:latin typeface="Calibri" panose="020F0502020204030204" pitchFamily="34" charset="0"/>
              <a:ea typeface="Calibri" panose="020F0502020204030204" pitchFamily="34" charset="0"/>
            </a:endParaRPr>
          </a:p>
          <a:p>
            <a:pPr marL="342900" lvl="0" indent="-342900">
              <a:lnSpc>
                <a:spcPct val="110000"/>
              </a:lnSpc>
              <a:buFont typeface="Symbol" panose="05050102010706020507" pitchFamily="18" charset="2"/>
              <a:buChar char=""/>
            </a:pPr>
            <a:r>
              <a:rPr lang="en-GB" dirty="0">
                <a:effectLst/>
                <a:latin typeface="Calibri" panose="020F0502020204030204" pitchFamily="34" charset="0"/>
                <a:ea typeface="Times New Roman" panose="02020603050405020304" pitchFamily="18" charset="0"/>
              </a:rPr>
              <a:t>Do you need support/guidance? </a:t>
            </a:r>
            <a:endParaRPr lang="en-GB" dirty="0">
              <a:effectLst/>
              <a:latin typeface="Calibri" panose="020F0502020204030204" pitchFamily="34" charset="0"/>
              <a:ea typeface="Calibri" panose="020F0502020204030204" pitchFamily="34" charset="0"/>
            </a:endParaRPr>
          </a:p>
          <a:p>
            <a:endParaRPr lang="en-GB" dirty="0"/>
          </a:p>
          <a:p>
            <a:endParaRPr lang="en-GB" dirty="0"/>
          </a:p>
        </p:txBody>
      </p:sp>
    </p:spTree>
    <p:extLst>
      <p:ext uri="{BB962C8B-B14F-4D97-AF65-F5344CB8AC3E}">
        <p14:creationId xmlns:p14="http://schemas.microsoft.com/office/powerpoint/2010/main" val="2989248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5C74A9D5-5B79-45DE-9A7A-172C109FE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Title 1">
            <a:extLst>
              <a:ext uri="{FF2B5EF4-FFF2-40B4-BE49-F238E27FC236}">
                <a16:creationId xmlns:a16="http://schemas.microsoft.com/office/drawing/2014/main" id="{AF00531D-7FBE-483A-8024-4DC5B8D1E978}"/>
              </a:ext>
            </a:extLst>
          </p:cNvPr>
          <p:cNvSpPr txBox="1">
            <a:spLocks/>
          </p:cNvSpPr>
          <p:nvPr/>
        </p:nvSpPr>
        <p:spPr>
          <a:xfrm>
            <a:off x="838200" y="75494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87CB8"/>
                </a:solidFill>
                <a:latin typeface="Arial" panose="020B0604020202020204" pitchFamily="34" charset="0"/>
                <a:cs typeface="Arial" panose="020B0604020202020204" pitchFamily="34" charset="0"/>
              </a:rPr>
              <a:t>Inclusion Opportunities page</a:t>
            </a:r>
          </a:p>
        </p:txBody>
      </p:sp>
      <p:sp>
        <p:nvSpPr>
          <p:cNvPr id="6" name="Content Placeholder 2">
            <a:extLst>
              <a:ext uri="{FF2B5EF4-FFF2-40B4-BE49-F238E27FC236}">
                <a16:creationId xmlns:a16="http://schemas.microsoft.com/office/drawing/2014/main" id="{B8877091-BE55-46F2-A436-9B4D8689DC8E}"/>
              </a:ext>
            </a:extLst>
          </p:cNvPr>
          <p:cNvSpPr txBox="1">
            <a:spLocks/>
          </p:cNvSpPr>
          <p:nvPr/>
        </p:nvSpPr>
        <p:spPr>
          <a:xfrm>
            <a:off x="838200" y="2107432"/>
            <a:ext cx="10693400" cy="40800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Keep us informed!</a:t>
            </a:r>
          </a:p>
          <a:p>
            <a:r>
              <a:rPr lang="en-GB" dirty="0"/>
              <a:t>Submit information to our ‘OPPORTUNITIES’ page by completing the ‘SUBMIT AN OPPORTUNITY’ online form.</a:t>
            </a:r>
          </a:p>
          <a:p>
            <a:endParaRPr lang="en-GB" sz="1200" dirty="0"/>
          </a:p>
          <a:p>
            <a:pPr marL="457200" lvl="1" indent="0">
              <a:buNone/>
            </a:pPr>
            <a:r>
              <a:rPr lang="en-GB" sz="2800" b="1" dirty="0"/>
              <a:t>https://www.cultureliverpool.co.uk/submit-an-opportunity/</a:t>
            </a:r>
          </a:p>
          <a:p>
            <a:endParaRPr lang="en-GB" dirty="0"/>
          </a:p>
        </p:txBody>
      </p:sp>
    </p:spTree>
    <p:extLst>
      <p:ext uri="{BB962C8B-B14F-4D97-AF65-F5344CB8AC3E}">
        <p14:creationId xmlns:p14="http://schemas.microsoft.com/office/powerpoint/2010/main" val="1903258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1379F-BA3C-0EA4-2AB9-21AD7545ABD8}"/>
              </a:ext>
            </a:extLst>
          </p:cNvPr>
          <p:cNvSpPr>
            <a:spLocks noGrp="1"/>
          </p:cNvSpPr>
          <p:nvPr>
            <p:ph type="title"/>
          </p:nvPr>
        </p:nvSpPr>
        <p:spPr>
          <a:xfrm>
            <a:off x="645160" y="385445"/>
            <a:ext cx="10515600" cy="1325563"/>
          </a:xfrm>
        </p:spPr>
        <p:txBody>
          <a:bodyPr>
            <a:normAutofit fontScale="90000"/>
          </a:bodyPr>
          <a:lstStyle/>
          <a:p>
            <a:r>
              <a:rPr lang="en-GB" sz="4800" b="1" dirty="0">
                <a:solidFill>
                  <a:srgbClr val="F87CB8"/>
                </a:solidFill>
                <a:latin typeface="Arial" panose="020B0604020202020204" pitchFamily="34" charset="0"/>
                <a:cs typeface="Arial" panose="020B0604020202020204" pitchFamily="34" charset="0"/>
              </a:rPr>
              <a:t>Example of Submit An Opportunity page</a:t>
            </a:r>
          </a:p>
        </p:txBody>
      </p:sp>
      <p:pic>
        <p:nvPicPr>
          <p:cNvPr id="4" name="Picture 3">
            <a:extLst>
              <a:ext uri="{FF2B5EF4-FFF2-40B4-BE49-F238E27FC236}">
                <a16:creationId xmlns:a16="http://schemas.microsoft.com/office/drawing/2014/main" id="{9798F3DC-5831-AEA3-B751-049B931B31DF}"/>
              </a:ext>
            </a:extLst>
          </p:cNvPr>
          <p:cNvPicPr>
            <a:picLocks noChangeAspect="1"/>
          </p:cNvPicPr>
          <p:nvPr/>
        </p:nvPicPr>
        <p:blipFill>
          <a:blip r:embed="rId2"/>
          <a:stretch>
            <a:fillRect/>
          </a:stretch>
        </p:blipFill>
        <p:spPr>
          <a:xfrm>
            <a:off x="1329303" y="2032000"/>
            <a:ext cx="9831457" cy="3783765"/>
          </a:xfrm>
          <a:prstGeom prst="rect">
            <a:avLst/>
          </a:prstGeom>
        </p:spPr>
      </p:pic>
    </p:spTree>
    <p:extLst>
      <p:ext uri="{BB962C8B-B14F-4D97-AF65-F5344CB8AC3E}">
        <p14:creationId xmlns:p14="http://schemas.microsoft.com/office/powerpoint/2010/main" val="839621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C73C0-C491-4C98-5528-0A9CDD2E1DBA}"/>
              </a:ext>
            </a:extLst>
          </p:cNvPr>
          <p:cNvSpPr>
            <a:spLocks noGrp="1"/>
          </p:cNvSpPr>
          <p:nvPr>
            <p:ph type="title"/>
          </p:nvPr>
        </p:nvSpPr>
        <p:spPr>
          <a:xfrm>
            <a:off x="645160" y="385445"/>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Example of the Thoughts page</a:t>
            </a:r>
          </a:p>
        </p:txBody>
      </p:sp>
      <p:pic>
        <p:nvPicPr>
          <p:cNvPr id="9" name="Picture 8" descr="A screenshot of a website&#10;&#10;Description automatically generated">
            <a:extLst>
              <a:ext uri="{FF2B5EF4-FFF2-40B4-BE49-F238E27FC236}">
                <a16:creationId xmlns:a16="http://schemas.microsoft.com/office/drawing/2014/main" id="{24A8A725-73B2-5E40-6BF7-3FC2D9AB7F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160" y="1629489"/>
            <a:ext cx="10200640" cy="4749792"/>
          </a:xfrm>
          <a:prstGeom prst="rect">
            <a:avLst/>
          </a:prstGeom>
        </p:spPr>
      </p:pic>
    </p:spTree>
    <p:extLst>
      <p:ext uri="{BB962C8B-B14F-4D97-AF65-F5344CB8AC3E}">
        <p14:creationId xmlns:p14="http://schemas.microsoft.com/office/powerpoint/2010/main" val="467171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5C74A9D5-5B79-45DE-9A7A-172C109FE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Title 1">
            <a:extLst>
              <a:ext uri="{FF2B5EF4-FFF2-40B4-BE49-F238E27FC236}">
                <a16:creationId xmlns:a16="http://schemas.microsoft.com/office/drawing/2014/main" id="{AF00531D-7FBE-483A-8024-4DC5B8D1E978}"/>
              </a:ext>
            </a:extLst>
          </p:cNvPr>
          <p:cNvSpPr txBox="1">
            <a:spLocks/>
          </p:cNvSpPr>
          <p:nvPr/>
        </p:nvSpPr>
        <p:spPr>
          <a:xfrm>
            <a:off x="838200" y="9378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87CB8"/>
                </a:solidFill>
                <a:latin typeface="Arial" panose="020B0604020202020204" pitchFamily="34" charset="0"/>
                <a:cs typeface="Arial" panose="020B0604020202020204" pitchFamily="34" charset="0"/>
              </a:rPr>
              <a:t>Inclusion on Thoughts page</a:t>
            </a:r>
          </a:p>
        </p:txBody>
      </p:sp>
      <p:sp>
        <p:nvSpPr>
          <p:cNvPr id="6" name="Content Placeholder 2">
            <a:extLst>
              <a:ext uri="{FF2B5EF4-FFF2-40B4-BE49-F238E27FC236}">
                <a16:creationId xmlns:a16="http://schemas.microsoft.com/office/drawing/2014/main" id="{B8877091-BE55-46F2-A436-9B4D8689DC8E}"/>
              </a:ext>
            </a:extLst>
          </p:cNvPr>
          <p:cNvSpPr txBox="1">
            <a:spLocks/>
          </p:cNvSpPr>
          <p:nvPr/>
        </p:nvSpPr>
        <p:spPr>
          <a:xfrm>
            <a:off x="838200" y="2290312"/>
            <a:ext cx="10693400" cy="41917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Everyone is invited to submit a blog (thoughts).</a:t>
            </a:r>
          </a:p>
          <a:p>
            <a:r>
              <a:rPr lang="en-GB" dirty="0"/>
              <a:t>Blogs should include a GOOD quality image which has no copyright issues. Images: 1170px (w) x 604px (h).</a:t>
            </a:r>
          </a:p>
          <a:p>
            <a:r>
              <a:rPr lang="en-GB" dirty="0"/>
              <a:t>The act of submitting Blog DOES NOT guarantee its publishing.</a:t>
            </a:r>
          </a:p>
          <a:p>
            <a:r>
              <a:rPr lang="en-GB" dirty="0"/>
              <a:t>Culture Liverpool reserve the right to edit where appropriate.</a:t>
            </a:r>
          </a:p>
          <a:p>
            <a:r>
              <a:rPr lang="en-GB" dirty="0"/>
              <a:t>Please provide Blogs with at least 3 working days notice.</a:t>
            </a:r>
          </a:p>
          <a:p>
            <a:r>
              <a:rPr lang="en-GB" dirty="0"/>
              <a:t>ALL Blogs should be sent to </a:t>
            </a:r>
            <a:r>
              <a:rPr lang="en-GB" b="1" dirty="0"/>
              <a:t>CULTUREMARKETING@LIVERPOOL.GOV.UK </a:t>
            </a:r>
            <a:r>
              <a:rPr lang="en-GB" dirty="0"/>
              <a:t>for consideration.</a:t>
            </a:r>
          </a:p>
          <a:p>
            <a:endParaRPr lang="en-GB" dirty="0"/>
          </a:p>
          <a:p>
            <a:endParaRPr lang="en-GB" dirty="0"/>
          </a:p>
        </p:txBody>
      </p:sp>
    </p:spTree>
    <p:extLst>
      <p:ext uri="{BB962C8B-B14F-4D97-AF65-F5344CB8AC3E}">
        <p14:creationId xmlns:p14="http://schemas.microsoft.com/office/powerpoint/2010/main" val="3973484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C73C0-C491-4C98-5528-0A9CDD2E1DBA}"/>
              </a:ext>
            </a:extLst>
          </p:cNvPr>
          <p:cNvSpPr>
            <a:spLocks noGrp="1"/>
          </p:cNvSpPr>
          <p:nvPr>
            <p:ph type="title"/>
          </p:nvPr>
        </p:nvSpPr>
        <p:spPr>
          <a:xfrm>
            <a:off x="645160" y="385445"/>
            <a:ext cx="10515600" cy="1325563"/>
          </a:xfrm>
        </p:spPr>
        <p:txBody>
          <a:bodyPr>
            <a:normAutofit/>
          </a:bodyPr>
          <a:lstStyle/>
          <a:p>
            <a:r>
              <a:rPr lang="en-GB" sz="4800" b="1" dirty="0">
                <a:solidFill>
                  <a:srgbClr val="F87CB8"/>
                </a:solidFill>
                <a:latin typeface="Arial" panose="020B0604020202020204" pitchFamily="34" charset="0"/>
                <a:cs typeface="Arial" panose="020B0604020202020204" pitchFamily="34" charset="0"/>
              </a:rPr>
              <a:t>Example of </a:t>
            </a:r>
            <a:r>
              <a:rPr lang="en-GB" sz="4800" b="1" dirty="0" err="1">
                <a:solidFill>
                  <a:srgbClr val="F87CB8"/>
                </a:solidFill>
                <a:latin typeface="Arial" panose="020B0604020202020204" pitchFamily="34" charset="0"/>
                <a:cs typeface="Arial" panose="020B0604020202020204" pitchFamily="34" charset="0"/>
              </a:rPr>
              <a:t>enewsletter</a:t>
            </a:r>
            <a:endParaRPr lang="en-GB" sz="4800" b="1" dirty="0">
              <a:solidFill>
                <a:srgbClr val="F87CB8"/>
              </a:solidFill>
              <a:latin typeface="Arial" panose="020B0604020202020204" pitchFamily="34" charset="0"/>
              <a:cs typeface="Arial" panose="020B0604020202020204" pitchFamily="34" charset="0"/>
            </a:endParaRPr>
          </a:p>
        </p:txBody>
      </p:sp>
      <p:pic>
        <p:nvPicPr>
          <p:cNvPr id="5" name="Picture 4" descr="A person singing into a microphone&#10;&#10;Description automatically generated">
            <a:extLst>
              <a:ext uri="{FF2B5EF4-FFF2-40B4-BE49-F238E27FC236}">
                <a16:creationId xmlns:a16="http://schemas.microsoft.com/office/drawing/2014/main" id="{8E8E30EF-8672-A699-047B-B2C0F6722D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8562" y="1899478"/>
            <a:ext cx="4714875" cy="4143375"/>
          </a:xfrm>
          <a:prstGeom prst="rect">
            <a:avLst/>
          </a:prstGeom>
          <a:ln>
            <a:solidFill>
              <a:schemeClr val="tx1"/>
            </a:solidFill>
          </a:ln>
        </p:spPr>
      </p:pic>
    </p:spTree>
    <p:extLst>
      <p:ext uri="{BB962C8B-B14F-4D97-AF65-F5344CB8AC3E}">
        <p14:creationId xmlns:p14="http://schemas.microsoft.com/office/powerpoint/2010/main" val="2973911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BC967-4B24-3771-81F4-B03125D60C20}"/>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872F6342-9338-BD2A-6016-2C1157ACB828}"/>
              </a:ext>
            </a:extLst>
          </p:cNvPr>
          <p:cNvSpPr>
            <a:spLocks noGrp="1"/>
          </p:cNvSpPr>
          <p:nvPr>
            <p:ph type="subTitle" idx="1"/>
          </p:nvPr>
        </p:nvSpPr>
        <p:spPr/>
        <p:txBody>
          <a:bodyPr/>
          <a:lstStyle/>
          <a:p>
            <a:endParaRPr lang="en-GB"/>
          </a:p>
        </p:txBody>
      </p:sp>
      <p:pic>
        <p:nvPicPr>
          <p:cNvPr id="4" name="Content Placeholder 4" descr="Graphical user interface, application&#10;&#10;Description automatically generated">
            <a:extLst>
              <a:ext uri="{FF2B5EF4-FFF2-40B4-BE49-F238E27FC236}">
                <a16:creationId xmlns:a16="http://schemas.microsoft.com/office/drawing/2014/main" id="{677F4EF8-43AC-5D7B-A683-8CB9E0AC61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Title 1">
            <a:extLst>
              <a:ext uri="{FF2B5EF4-FFF2-40B4-BE49-F238E27FC236}">
                <a16:creationId xmlns:a16="http://schemas.microsoft.com/office/drawing/2014/main" id="{9ED2BB36-29D7-143E-ACD4-8B14F4137CE4}"/>
              </a:ext>
            </a:extLst>
          </p:cNvPr>
          <p:cNvSpPr txBox="1">
            <a:spLocks/>
          </p:cNvSpPr>
          <p:nvPr/>
        </p:nvSpPr>
        <p:spPr>
          <a:xfrm>
            <a:off x="838200" y="9378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87CB8"/>
                </a:solidFill>
                <a:latin typeface="Arial" panose="020B0604020202020204" pitchFamily="34" charset="0"/>
                <a:cs typeface="Arial" panose="020B0604020202020204" pitchFamily="34" charset="0"/>
              </a:rPr>
              <a:t>Inclusion in newsletter</a:t>
            </a:r>
          </a:p>
        </p:txBody>
      </p:sp>
      <p:sp>
        <p:nvSpPr>
          <p:cNvPr id="6" name="Content Placeholder 2">
            <a:extLst>
              <a:ext uri="{FF2B5EF4-FFF2-40B4-BE49-F238E27FC236}">
                <a16:creationId xmlns:a16="http://schemas.microsoft.com/office/drawing/2014/main" id="{7CF51553-672C-34E1-1891-F1B05316EF03}"/>
              </a:ext>
            </a:extLst>
          </p:cNvPr>
          <p:cNvSpPr txBox="1">
            <a:spLocks/>
          </p:cNvSpPr>
          <p:nvPr/>
        </p:nvSpPr>
        <p:spPr>
          <a:xfrm>
            <a:off x="838200" y="2290312"/>
            <a:ext cx="10693400" cy="41917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Content for the newsletter derives from the WHAT’S ON listing on the Culture Liverpool website.</a:t>
            </a:r>
          </a:p>
          <a:p>
            <a:r>
              <a:rPr lang="en-GB" dirty="0"/>
              <a:t>All CAIP organisations will have the opportunity to feature in Culture Liverpool’s newsletter, which is sent out bi-weekly</a:t>
            </a:r>
          </a:p>
          <a:p>
            <a:r>
              <a:rPr lang="en-GB" dirty="0"/>
              <a:t>Ensure all relevant events are submitted on Culture Liverpool as required for the opportunity to be included.</a:t>
            </a:r>
          </a:p>
          <a:p>
            <a:endParaRPr lang="en-GB" dirty="0"/>
          </a:p>
          <a:p>
            <a:endParaRPr lang="en-GB" dirty="0"/>
          </a:p>
        </p:txBody>
      </p:sp>
    </p:spTree>
    <p:extLst>
      <p:ext uri="{BB962C8B-B14F-4D97-AF65-F5344CB8AC3E}">
        <p14:creationId xmlns:p14="http://schemas.microsoft.com/office/powerpoint/2010/main" val="3446345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5C74A9D5-5B79-45DE-9A7A-172C109FE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Title 1">
            <a:extLst>
              <a:ext uri="{FF2B5EF4-FFF2-40B4-BE49-F238E27FC236}">
                <a16:creationId xmlns:a16="http://schemas.microsoft.com/office/drawing/2014/main" id="{AF00531D-7FBE-483A-8024-4DC5B8D1E978}"/>
              </a:ext>
            </a:extLst>
          </p:cNvPr>
          <p:cNvSpPr txBox="1">
            <a:spLocks/>
          </p:cNvSpPr>
          <p:nvPr/>
        </p:nvSpPr>
        <p:spPr>
          <a:xfrm>
            <a:off x="838200" y="9378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87CB8"/>
                </a:solidFill>
                <a:latin typeface="Arial" panose="020B0604020202020204" pitchFamily="34" charset="0"/>
                <a:cs typeface="Arial" panose="020B0604020202020204" pitchFamily="34" charset="0"/>
              </a:rPr>
              <a:t>Brand Guidelines </a:t>
            </a:r>
          </a:p>
        </p:txBody>
      </p:sp>
      <p:sp>
        <p:nvSpPr>
          <p:cNvPr id="6" name="Content Placeholder 2">
            <a:extLst>
              <a:ext uri="{FF2B5EF4-FFF2-40B4-BE49-F238E27FC236}">
                <a16:creationId xmlns:a16="http://schemas.microsoft.com/office/drawing/2014/main" id="{B8877091-BE55-46F2-A436-9B4D8689DC8E}"/>
              </a:ext>
            </a:extLst>
          </p:cNvPr>
          <p:cNvSpPr txBox="1">
            <a:spLocks/>
          </p:cNvSpPr>
          <p:nvPr/>
        </p:nvSpPr>
        <p:spPr>
          <a:xfrm>
            <a:off x="838200" y="2290313"/>
            <a:ext cx="10693400" cy="3661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New edition January 2023.</a:t>
            </a:r>
          </a:p>
          <a:p>
            <a:r>
              <a:rPr lang="en-GB" dirty="0"/>
              <a:t>Queries relating to Culture Liverpool’s branding guidelines should be directed to </a:t>
            </a:r>
            <a:r>
              <a:rPr lang="en-GB" b="1" dirty="0"/>
              <a:t>CULTUREMARKETING@LIVERPOOL.GOV.UK</a:t>
            </a:r>
            <a:r>
              <a:rPr lang="en-GB" dirty="0"/>
              <a:t>.</a:t>
            </a:r>
          </a:p>
          <a:p>
            <a:endParaRPr lang="en-GB" dirty="0"/>
          </a:p>
          <a:p>
            <a:endParaRPr lang="en-GB" dirty="0"/>
          </a:p>
        </p:txBody>
      </p:sp>
    </p:spTree>
    <p:extLst>
      <p:ext uri="{BB962C8B-B14F-4D97-AF65-F5344CB8AC3E}">
        <p14:creationId xmlns:p14="http://schemas.microsoft.com/office/powerpoint/2010/main" val="3469428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5C74A9D5-5B79-45DE-9A7A-172C109FE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Title 1">
            <a:extLst>
              <a:ext uri="{FF2B5EF4-FFF2-40B4-BE49-F238E27FC236}">
                <a16:creationId xmlns:a16="http://schemas.microsoft.com/office/drawing/2014/main" id="{AF00531D-7FBE-483A-8024-4DC5B8D1E978}"/>
              </a:ext>
            </a:extLst>
          </p:cNvPr>
          <p:cNvSpPr txBox="1">
            <a:spLocks/>
          </p:cNvSpPr>
          <p:nvPr/>
        </p:nvSpPr>
        <p:spPr>
          <a:xfrm>
            <a:off x="838200" y="9378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87CB8"/>
                </a:solidFill>
                <a:latin typeface="Arial" panose="020B0604020202020204" pitchFamily="34" charset="0"/>
                <a:cs typeface="Arial" panose="020B0604020202020204" pitchFamily="34" charset="0"/>
              </a:rPr>
              <a:t>Visit Liverpool</a:t>
            </a:r>
          </a:p>
        </p:txBody>
      </p:sp>
      <p:sp>
        <p:nvSpPr>
          <p:cNvPr id="6" name="Content Placeholder 2">
            <a:extLst>
              <a:ext uri="{FF2B5EF4-FFF2-40B4-BE49-F238E27FC236}">
                <a16:creationId xmlns:a16="http://schemas.microsoft.com/office/drawing/2014/main" id="{B8877091-BE55-46F2-A436-9B4D8689DC8E}"/>
              </a:ext>
            </a:extLst>
          </p:cNvPr>
          <p:cNvSpPr txBox="1">
            <a:spLocks/>
          </p:cNvSpPr>
          <p:nvPr/>
        </p:nvSpPr>
        <p:spPr>
          <a:xfrm>
            <a:off x="838200" y="2290313"/>
            <a:ext cx="10693400" cy="3661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Add Visit Liverpool to your press distribution lists so they can keep up to date with your activities.</a:t>
            </a:r>
          </a:p>
          <a:p>
            <a:r>
              <a:rPr lang="en-US" dirty="0"/>
              <a:t>Let Visit Liverpool know what activities you have planned around major events, like River of Light, music events, food and drink offering, Christmas, Bank Holiday’s so they can provide an extensive and cohesive offer.</a:t>
            </a:r>
          </a:p>
          <a:p>
            <a:r>
              <a:rPr lang="en-US" dirty="0"/>
              <a:t>Advise whether you are open to press visits at your venues/events. </a:t>
            </a:r>
          </a:p>
          <a:p>
            <a:r>
              <a:rPr lang="en-US" dirty="0"/>
              <a:t>Queries to be directed to </a:t>
            </a:r>
            <a:r>
              <a:rPr lang="en-US" b="1" dirty="0"/>
              <a:t>SSHIELDS@MARKETINGLIVERPOOL.CO.UK</a:t>
            </a:r>
            <a:r>
              <a:rPr lang="en-US" dirty="0"/>
              <a:t>.</a:t>
            </a:r>
          </a:p>
          <a:p>
            <a:endParaRPr lang="en-GB" dirty="0"/>
          </a:p>
          <a:p>
            <a:endParaRPr lang="en-GB" dirty="0"/>
          </a:p>
        </p:txBody>
      </p:sp>
    </p:spTree>
    <p:extLst>
      <p:ext uri="{BB962C8B-B14F-4D97-AF65-F5344CB8AC3E}">
        <p14:creationId xmlns:p14="http://schemas.microsoft.com/office/powerpoint/2010/main" val="3122970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Graphical user interface, application&#10;&#10;Description automatically generated">
            <a:extLst>
              <a:ext uri="{FF2B5EF4-FFF2-40B4-BE49-F238E27FC236}">
                <a16:creationId xmlns:a16="http://schemas.microsoft.com/office/drawing/2014/main" id="{5C74A9D5-5B79-45DE-9A7A-172C109FE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Title 1">
            <a:extLst>
              <a:ext uri="{FF2B5EF4-FFF2-40B4-BE49-F238E27FC236}">
                <a16:creationId xmlns:a16="http://schemas.microsoft.com/office/drawing/2014/main" id="{AF00531D-7FBE-483A-8024-4DC5B8D1E978}"/>
              </a:ext>
            </a:extLst>
          </p:cNvPr>
          <p:cNvSpPr txBox="1">
            <a:spLocks/>
          </p:cNvSpPr>
          <p:nvPr/>
        </p:nvSpPr>
        <p:spPr>
          <a:xfrm>
            <a:off x="838200" y="9378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F87CB8"/>
                </a:solidFill>
                <a:latin typeface="Arial" panose="020B0604020202020204" pitchFamily="34" charset="0"/>
                <a:cs typeface="Arial" panose="020B0604020202020204" pitchFamily="34" charset="0"/>
              </a:rPr>
              <a:t>Liverpool City Council</a:t>
            </a:r>
          </a:p>
        </p:txBody>
      </p:sp>
      <p:sp>
        <p:nvSpPr>
          <p:cNvPr id="6" name="Content Placeholder 2">
            <a:extLst>
              <a:ext uri="{FF2B5EF4-FFF2-40B4-BE49-F238E27FC236}">
                <a16:creationId xmlns:a16="http://schemas.microsoft.com/office/drawing/2014/main" id="{B8877091-BE55-46F2-A436-9B4D8689DC8E}"/>
              </a:ext>
            </a:extLst>
          </p:cNvPr>
          <p:cNvSpPr txBox="1">
            <a:spLocks/>
          </p:cNvSpPr>
          <p:nvPr/>
        </p:nvSpPr>
        <p:spPr>
          <a:xfrm>
            <a:off x="838200" y="2290313"/>
            <a:ext cx="10693400" cy="3661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Add Liverpool City Council to your press distribution lists </a:t>
            </a:r>
            <a:r>
              <a:rPr lang="en-US"/>
              <a:t>so they </a:t>
            </a:r>
            <a:r>
              <a:rPr lang="en-US" dirty="0"/>
              <a:t>can keep up to date with your activities.</a:t>
            </a:r>
          </a:p>
          <a:p>
            <a:r>
              <a:rPr lang="en-US" dirty="0"/>
              <a:t>Queries to be directed to </a:t>
            </a:r>
            <a:r>
              <a:rPr lang="en-US" b="1" dirty="0"/>
              <a:t>SARAH.LATCHAM@LIVERPOOL.GOV.UK</a:t>
            </a:r>
            <a:r>
              <a:rPr lang="en-US" dirty="0"/>
              <a:t>.</a:t>
            </a:r>
          </a:p>
          <a:p>
            <a:endParaRPr lang="en-GB" dirty="0"/>
          </a:p>
          <a:p>
            <a:endParaRPr lang="en-GB" dirty="0"/>
          </a:p>
        </p:txBody>
      </p:sp>
    </p:spTree>
    <p:extLst>
      <p:ext uri="{BB962C8B-B14F-4D97-AF65-F5344CB8AC3E}">
        <p14:creationId xmlns:p14="http://schemas.microsoft.com/office/powerpoint/2010/main" val="41942195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A4F560-43C5-42CD-94A7-77D73738F17D}"/>
              </a:ext>
            </a:extLst>
          </p:cNvPr>
          <p:cNvPicPr>
            <a:picLocks noChangeAspect="1"/>
          </p:cNvPicPr>
          <p:nvPr/>
        </p:nvPicPr>
        <p:blipFill>
          <a:blip r:embed="rId2"/>
          <a:stretch>
            <a:fillRect/>
          </a:stretch>
        </p:blipFill>
        <p:spPr>
          <a:xfrm>
            <a:off x="0" y="16588"/>
            <a:ext cx="12192000" cy="6824824"/>
          </a:xfrm>
          <a:prstGeom prst="rect">
            <a:avLst/>
          </a:prstGeom>
        </p:spPr>
      </p:pic>
    </p:spTree>
    <p:extLst>
      <p:ext uri="{BB962C8B-B14F-4D97-AF65-F5344CB8AC3E}">
        <p14:creationId xmlns:p14="http://schemas.microsoft.com/office/powerpoint/2010/main" val="4130825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03245B-C222-4B1A-BD7E-F95231502CE8}"/>
              </a:ext>
            </a:extLst>
          </p:cNvPr>
          <p:cNvPicPr>
            <a:picLocks noChangeAspect="1"/>
          </p:cNvPicPr>
          <p:nvPr/>
        </p:nvPicPr>
        <p:blipFill>
          <a:blip r:embed="rId2"/>
          <a:stretch>
            <a:fillRect/>
          </a:stretch>
        </p:blipFill>
        <p:spPr>
          <a:xfrm>
            <a:off x="0" y="25505"/>
            <a:ext cx="12192000" cy="6806990"/>
          </a:xfrm>
          <a:prstGeom prst="rect">
            <a:avLst/>
          </a:prstGeom>
        </p:spPr>
      </p:pic>
    </p:spTree>
    <p:extLst>
      <p:ext uri="{BB962C8B-B14F-4D97-AF65-F5344CB8AC3E}">
        <p14:creationId xmlns:p14="http://schemas.microsoft.com/office/powerpoint/2010/main" val="2450331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6A74C6-1B9C-4C18-99FC-0DE1CCEB61D7}"/>
              </a:ext>
            </a:extLst>
          </p:cNvPr>
          <p:cNvPicPr>
            <a:picLocks noChangeAspect="1"/>
          </p:cNvPicPr>
          <p:nvPr/>
        </p:nvPicPr>
        <p:blipFill>
          <a:blip r:embed="rId2"/>
          <a:stretch>
            <a:fillRect/>
          </a:stretch>
        </p:blipFill>
        <p:spPr>
          <a:xfrm>
            <a:off x="0" y="193040"/>
            <a:ext cx="12045497" cy="6644640"/>
          </a:xfrm>
          <a:prstGeom prst="rect">
            <a:avLst/>
          </a:prstGeom>
        </p:spPr>
      </p:pic>
    </p:spTree>
    <p:extLst>
      <p:ext uri="{BB962C8B-B14F-4D97-AF65-F5344CB8AC3E}">
        <p14:creationId xmlns:p14="http://schemas.microsoft.com/office/powerpoint/2010/main" val="805533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304E59-4F99-3844-1A67-3B7B9B5AD02F}"/>
              </a:ext>
            </a:extLst>
          </p:cNvPr>
          <p:cNvPicPr>
            <a:picLocks noChangeAspect="1"/>
          </p:cNvPicPr>
          <p:nvPr/>
        </p:nvPicPr>
        <p:blipFill>
          <a:blip r:embed="rId2"/>
          <a:stretch>
            <a:fillRect/>
          </a:stretch>
        </p:blipFill>
        <p:spPr>
          <a:xfrm>
            <a:off x="0" y="112544"/>
            <a:ext cx="12192000" cy="6775152"/>
          </a:xfrm>
          <a:prstGeom prst="rect">
            <a:avLst/>
          </a:prstGeom>
        </p:spPr>
      </p:pic>
    </p:spTree>
    <p:extLst>
      <p:ext uri="{BB962C8B-B14F-4D97-AF65-F5344CB8AC3E}">
        <p14:creationId xmlns:p14="http://schemas.microsoft.com/office/powerpoint/2010/main" val="1247269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F0453B-8200-4831-8957-3389236D1AC1}"/>
              </a:ext>
            </a:extLst>
          </p:cNvPr>
          <p:cNvPicPr>
            <a:picLocks noChangeAspect="1"/>
          </p:cNvPicPr>
          <p:nvPr/>
        </p:nvPicPr>
        <p:blipFill>
          <a:blip r:embed="rId2"/>
          <a:stretch>
            <a:fillRect/>
          </a:stretch>
        </p:blipFill>
        <p:spPr>
          <a:xfrm>
            <a:off x="0" y="5796"/>
            <a:ext cx="12192000" cy="6846407"/>
          </a:xfrm>
          <a:prstGeom prst="rect">
            <a:avLst/>
          </a:prstGeom>
        </p:spPr>
      </p:pic>
    </p:spTree>
    <p:extLst>
      <p:ext uri="{BB962C8B-B14F-4D97-AF65-F5344CB8AC3E}">
        <p14:creationId xmlns:p14="http://schemas.microsoft.com/office/powerpoint/2010/main" val="1471222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E0A588-EEC8-75F6-33B6-4BCA41102B59}"/>
              </a:ext>
            </a:extLst>
          </p:cNvPr>
          <p:cNvPicPr>
            <a:picLocks noChangeAspect="1"/>
          </p:cNvPicPr>
          <p:nvPr/>
        </p:nvPicPr>
        <p:blipFill>
          <a:blip r:embed="rId2"/>
          <a:stretch>
            <a:fillRect/>
          </a:stretch>
        </p:blipFill>
        <p:spPr>
          <a:xfrm>
            <a:off x="0" y="2543"/>
            <a:ext cx="12192000" cy="6852913"/>
          </a:xfrm>
          <a:prstGeom prst="rect">
            <a:avLst/>
          </a:prstGeom>
        </p:spPr>
      </p:pic>
    </p:spTree>
    <p:extLst>
      <p:ext uri="{BB962C8B-B14F-4D97-AF65-F5344CB8AC3E}">
        <p14:creationId xmlns:p14="http://schemas.microsoft.com/office/powerpoint/2010/main" val="33876443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BF1202-3FBC-42B5-A514-1D29DD3F5C80}"/>
              </a:ext>
            </a:extLst>
          </p:cNvPr>
          <p:cNvPicPr>
            <a:picLocks noChangeAspect="1"/>
          </p:cNvPicPr>
          <p:nvPr/>
        </p:nvPicPr>
        <p:blipFill>
          <a:blip r:embed="rId2"/>
          <a:stretch>
            <a:fillRect/>
          </a:stretch>
        </p:blipFill>
        <p:spPr>
          <a:xfrm>
            <a:off x="0" y="14228"/>
            <a:ext cx="12192000" cy="6829544"/>
          </a:xfrm>
          <a:prstGeom prst="rect">
            <a:avLst/>
          </a:prstGeom>
        </p:spPr>
      </p:pic>
    </p:spTree>
    <p:extLst>
      <p:ext uri="{BB962C8B-B14F-4D97-AF65-F5344CB8AC3E}">
        <p14:creationId xmlns:p14="http://schemas.microsoft.com/office/powerpoint/2010/main" val="432903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F03312-3EA0-4228-99C4-EDBC646D35B1}"/>
              </a:ext>
            </a:extLst>
          </p:cNvPr>
          <p:cNvPicPr>
            <a:picLocks noChangeAspect="1"/>
          </p:cNvPicPr>
          <p:nvPr/>
        </p:nvPicPr>
        <p:blipFill>
          <a:blip r:embed="rId2"/>
          <a:stretch>
            <a:fillRect/>
          </a:stretch>
        </p:blipFill>
        <p:spPr>
          <a:xfrm>
            <a:off x="0" y="11865"/>
            <a:ext cx="12192000" cy="6834270"/>
          </a:xfrm>
          <a:prstGeom prst="rect">
            <a:avLst/>
          </a:prstGeom>
        </p:spPr>
      </p:pic>
    </p:spTree>
    <p:extLst>
      <p:ext uri="{BB962C8B-B14F-4D97-AF65-F5344CB8AC3E}">
        <p14:creationId xmlns:p14="http://schemas.microsoft.com/office/powerpoint/2010/main" val="31264791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E0850E-7FB1-4E79-92D3-86E367D12E93}"/>
              </a:ext>
            </a:extLst>
          </p:cNvPr>
          <p:cNvPicPr>
            <a:picLocks noChangeAspect="1"/>
          </p:cNvPicPr>
          <p:nvPr/>
        </p:nvPicPr>
        <p:blipFill>
          <a:blip r:embed="rId2"/>
          <a:stretch>
            <a:fillRect/>
          </a:stretch>
        </p:blipFill>
        <p:spPr>
          <a:xfrm>
            <a:off x="0" y="8677"/>
            <a:ext cx="12192000" cy="6840646"/>
          </a:xfrm>
          <a:prstGeom prst="rect">
            <a:avLst/>
          </a:prstGeom>
        </p:spPr>
      </p:pic>
    </p:spTree>
    <p:extLst>
      <p:ext uri="{BB962C8B-B14F-4D97-AF65-F5344CB8AC3E}">
        <p14:creationId xmlns:p14="http://schemas.microsoft.com/office/powerpoint/2010/main" val="3931790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59054E-3E84-4FF7-A943-EFBDE51BAC61}"/>
              </a:ext>
            </a:extLst>
          </p:cNvPr>
          <p:cNvPicPr>
            <a:picLocks noChangeAspect="1"/>
          </p:cNvPicPr>
          <p:nvPr/>
        </p:nvPicPr>
        <p:blipFill>
          <a:blip r:embed="rId2"/>
          <a:stretch>
            <a:fillRect/>
          </a:stretch>
        </p:blipFill>
        <p:spPr>
          <a:xfrm>
            <a:off x="0" y="29226"/>
            <a:ext cx="12192000" cy="6799547"/>
          </a:xfrm>
          <a:prstGeom prst="rect">
            <a:avLst/>
          </a:prstGeom>
        </p:spPr>
      </p:pic>
    </p:spTree>
    <p:extLst>
      <p:ext uri="{BB962C8B-B14F-4D97-AF65-F5344CB8AC3E}">
        <p14:creationId xmlns:p14="http://schemas.microsoft.com/office/powerpoint/2010/main" val="2690592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TotalTime>
  <Words>1021</Words>
  <Application>Microsoft Office PowerPoint</Application>
  <PresentationFormat>Widescreen</PresentationFormat>
  <Paragraphs>100</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acumin-pro</vt:lpstr>
      <vt:lpstr>Arial</vt:lpstr>
      <vt:lpstr>Calibri</vt:lpstr>
      <vt:lpstr>Calibri Light</vt:lpstr>
      <vt:lpstr>Symbol</vt:lpstr>
      <vt:lpstr>Office Theme</vt:lpstr>
      <vt:lpstr>PowerPoint Presentation</vt:lpstr>
      <vt:lpstr>PowerPoint Presentation</vt:lpstr>
      <vt:lpstr>Website guidance 2023</vt:lpstr>
      <vt:lpstr>Marketing support guidance 2023</vt:lpstr>
      <vt:lpstr>Example of What’s On page</vt:lpstr>
      <vt:lpstr>Example of What’s On page</vt:lpstr>
      <vt:lpstr>Submit An Event to What’s On page</vt:lpstr>
      <vt:lpstr>Example of Submit An Event page</vt:lpstr>
      <vt:lpstr>Guidance for submissions</vt:lpstr>
      <vt:lpstr>Culture Liverpool’s twitter page</vt:lpstr>
      <vt:lpstr>Social Support</vt:lpstr>
      <vt:lpstr>Guidance for inclusion on socials</vt:lpstr>
      <vt:lpstr>PowerPoint Presentation</vt:lpstr>
      <vt:lpstr>Example of News page</vt:lpstr>
      <vt:lpstr>PowerPoint Presentation</vt:lpstr>
      <vt:lpstr>PowerPoint Presentation</vt:lpstr>
      <vt:lpstr>PowerPoint Presentation</vt:lpstr>
      <vt:lpstr>Example of Submit An Opportunity page</vt:lpstr>
      <vt:lpstr>Example of the Thoughts page</vt:lpstr>
      <vt:lpstr>PowerPoint Presentation</vt:lpstr>
      <vt:lpstr>Example of enewsletter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Liverpool City Council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Wilde, Clare (Culture)</dc:creator>
  <cp:lastModifiedBy>Wilde, Clare (Culture)</cp:lastModifiedBy>
  <cp:revision>18</cp:revision>
  <cp:lastPrinted>2024-07-31T11:28:26Z</cp:lastPrinted>
  <dcterms:created xsi:type="dcterms:W3CDTF">2023-02-22T12:02:46Z</dcterms:created>
  <dcterms:modified xsi:type="dcterms:W3CDTF">2024-08-06T13:54:08Z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5269fcf-988b-4373-b451-e81b5efccdd3_Enabled">
    <vt:lpwstr>true</vt:lpwstr>
  </property>
  <property fmtid="{D5CDD505-2E9C-101B-9397-08002B2CF9AE}" pid="3" name="MSIP_Label_65269fcf-988b-4373-b451-e81b5efccdd3_SetDate">
    <vt:lpwstr>2023-02-22T12:02:46Z</vt:lpwstr>
  </property>
  <property fmtid="{D5CDD505-2E9C-101B-9397-08002B2CF9AE}" pid="4" name="MSIP_Label_65269fcf-988b-4373-b451-e81b5efccdd3_Method">
    <vt:lpwstr>Standard</vt:lpwstr>
  </property>
  <property fmtid="{D5CDD505-2E9C-101B-9397-08002B2CF9AE}" pid="5" name="MSIP_Label_65269fcf-988b-4373-b451-e81b5efccdd3_Name">
    <vt:lpwstr>LCC Official</vt:lpwstr>
  </property>
  <property fmtid="{D5CDD505-2E9C-101B-9397-08002B2CF9AE}" pid="6" name="MSIP_Label_65269fcf-988b-4373-b451-e81b5efccdd3_SiteId">
    <vt:lpwstr>270f62b3-8ca4-4d63-8a80-ffcb1f61fe04</vt:lpwstr>
  </property>
  <property fmtid="{D5CDD505-2E9C-101B-9397-08002B2CF9AE}" pid="7" name="MSIP_Label_65269fcf-988b-4373-b451-e81b5efccdd3_ActionId">
    <vt:lpwstr>e1e6f8be-5119-4260-b40d-0ee824a186be</vt:lpwstr>
  </property>
  <property fmtid="{D5CDD505-2E9C-101B-9397-08002B2CF9AE}" pid="8" name="MSIP_Label_65269fcf-988b-4373-b451-e81b5efccdd3_ContentBits">
    <vt:lpwstr>0</vt:lpwstr>
  </property>
</Properties>
</file>